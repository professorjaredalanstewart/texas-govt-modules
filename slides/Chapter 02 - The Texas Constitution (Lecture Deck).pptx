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THE TEXAS CONSTITUTION
About 70 minutes with both discussion pauses. See "How to use this deck" for a
50 minute version.
OPENING (2 min). Ask: "How long is the U.S. Constitution?" Most students guess
too high. It runs roughly 7,500 words including amendments. Then ask about the
Texas Constitution. It runs past 86,000 words with over 500 amendments. Let the
gap sit, then ask why a state document would need eleven times the text of the
one that governs the whole country.
That question is the chapter. The answer is that the U.S. Constitution grants
powers broadly and trusts interpretation, while the Texas Constitution restricts
in detail and trusts almost no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chapter is the keystone of the course. If students leave understanding that
Texas government was deliberately built weak, and why, then the Legislature, the
plural executive, the courts, and the bureaucracy all become explicable rather
than arbitrary.
If your class already did Chapter 1, the Davis material will be familiar. Move
faster through the history and spend the time on the 1876 design and separation
of powers.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 not read them aloud.
Point at #2 and #4. Objective 2 explains the entire structure of Texas
government. Objective 4 is the ACGM outcome this chapter now carries as primary
coverage.
Objectives 1 and 3 are supporting detail. If you run short, compress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Do not narrate all eight. Pick three and move.
THE THREE THAT MATTER:
  1836, because an independent nation had to invent a government from scratch.
  1869, because it centralized power and produced Davis.
  1876, because Texas still lives inside it.
THE PATTERN TO NAME: each constitution is a reaction to the previous one. 1861
adds what 1845 lacked for the Confederacy. 1866 tries to satisfy Washington and
fails. 1869 imposes what Congress wanted. 1876 tears out everything 1869 built.
Texas constitutional history is a pendulum, not a progression.
Students often ask why Texas did not just amend. Partly because each change was a
regime change, not a policy adjustment. Rewriting was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POINT IS NOT THE DOCUMENTS. It is the experience of being a political
minority governed from a distant capital. That experience shaped what Texans
wanted from every constitution they wrote afterward: local control, limited
central authority, and suspicion of officials you cannot see.
Tie it forward explicitly. When students reach federalism in Chapter 3 and hear
Texas politicians object to federal overreach, they are hearing an argument with
roots in Saltillo and Mexico City.
WORTH SAYING: Tejano Texans participated in the revolution and several signed the
Texas Declaration of Independence. This was not simply Anglo settlers against
Mexicans.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1845 DOCUMENT DESERVES ITS REPUTATION. It is short, readable, and restrained,
which makes the contrast with 1876 sharper. Ask students to hold that comparison.
TWO LASTING CONTRIBUTIONS students should remember: the homestead exemption,
which protects a family home from most creditors and is unusually strong in
Texas, and community property, inherited from Spanish and Mexican law rather than
English common law. Texas legal distinctiveness is not all Anglo.
THE PUBLIC LANDS POINT IS THE ONE TO EMPHASIZE. Texas entered the Union as an
independent republic and kept its land. That single negotiating outcome funds the
Permanent School Fund and the Permanent University Fund today. Forward reference
to Chapter 14.
BE HONEST about the 1836 document's slavery provisions. Stating what it said is
not editorializing.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SEQUENCE TELLS THE STORY. 1861 writes the Confederacy in. 1866 is Texas
trying to rejoin the Union on the cheapest possible terms and being told no. 1869
is Congress dictating terms.
DO NOT SKIP WHAT 1869 ACHIEVED. It established public schools in Texas for the
first time and enfranchised Black men. Students who only hear "Reconstruction
was resented" miss that the resentment attached to real expansions of democracy
as well as to centralized power. Both are true and both belong in the account.
The centralization is the mechanical point that matters for the next slide. Four
year term, appointment power, control of registration, and a state police force
are the specific powers the 1876 framers stripped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question. Give 90 seconds of writing before discussion.
Q1 is the best general choice. Push students past "change is good" toward the
cost: a constitution that keeps getting rewritten provides no stable expectations,
and every rewrite is won by whoever holds power at that moment.
Q2 is the hardest and the most valuable. It refuses the comfortable version in
either direction. Expect discomfort and let it stand. The honest answer is that
both things happened and a mature civic memory holds both.
Q3 sets up the 1876 comparison nicely. Students usually land on brevity and
restraint, which is exactly what 1876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important slide in the chapter.
THE ARGUMENT: every item on this list is a specific answer to a specific Davis
power. He had a long term, so they shortened it. He appointed local officials, so
they made them elected. He had a state police force, so they abolished it. He
controlled registration, so they stripped that out.
THE DEEPEST STRUCTURAL POINT, and the one students find hardest: the U.S.
Constitution GRANTS powers and leaves the details to interpretation. The Texas
Constitution RESTRICTS in detail. That is why Texas needs an amendment for things
other states handle by statute, and why the document has grown past 86,000 words
with more than 500 amendments.
ASK: "What is the cost of a government designed to be weak?" Let them work toward
it. Answers include slow response to crisis, diffuse accountability, and power
flowing to whoever can navigate the fragmentation, usually organized interests.
Forward reference to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Candidate to compress in a 50 minute class.
THE GOVERNOR HAS NO ROLE. Students assume a veto applies. It does not. Amendments
go straight from the Legislature to the voters.
WHY SO MANY AMENDMENTS: this is the payoff of the previous slide. Because the
document restricts rather than grants, routine adjustments need constitutional
change. Other states pass a statute; Texas holds an election.
MAKE IT CONCRETE AND CURRENT. In 2025 Texans voted on amendments including
raising the homestead exemption to $140,000, dedicating up to $1 billion a year
to water infrastructure, and banning several new taxes. Those are policy
decisions made by constitutional amendment.
CIVIC POINT WORTH MAKING: amendment elections are usually held in odd-numbered
November years with very low turnout. A small, motivated electorate is rewriting
the state's founding document. Connect to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This section carries the chapter's primary ACGM outcome.
TEACH THE DISTINCTION FIRST. Separation of powers divides the functions.
Checks and balances deliberately let each branch reach into another. A veto is an
executive hand in legislating; confirmation is a legislative hand in appointing.
The first keeps branches apart, the second connects them on purpose.
TEXAS GOES FURTHER THAN THE FEDERAL MODEL in three ways worth naming: the
executive itself is fragmented into a plural executive, judges are elected rather
than appointed, and the legislature is deliberately part-time. Power here is not
merely separated. It is scattered.
THE LIEUTENANT GOVERNOR EXAMPLE IS THE BEST ONE on this slide. An official elected
on the executive ballot runs the Senate. Ask students whether that is a violation
of Article II or an express exception. The answer is the second, which teaches
them to read for exceptions rather than assume clean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Good slide to leave up while students take notes.
THE ROW THAT EXPLAINS ALL THE OTHERS is "Approach." Grant versus restrict is the
philosophical difference, and length, amendment count, and detail all follow
from it.
ASK: "Which design do you prefer, and what does your answer assume about
government?" A student who trusts government to act in good faith prefers the
federal model. A student who does not prefers the Texas model. That is a real
values disagreement, not a knowledge gap, and it is worth naming as such.
DO NOT LET "longer means worse" go unchallenged. The Texas approach has a
coherent defense: it keeps decisions with voters rather than with officials and
judges. Present it fairly even if students find it inefficient.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ONE TO USE IF YOU USE ONLY ONE. It forces a genuine trade-off. Concrete
prompts if students stall: a power grid failure in February, a pandemic, a
hurricane. A legislature that is out of session for twenty months cannot respond
without the governor calling it back.
Q2 is a quiet but sharp question. The honest answer is that a small, motivated,
usually older and more organized electorate decides. That is not a partisan
observation, it is a turnout fact, and it sets up Chapter 8.
Q3 is the values question underneath the whole chapter. There is no correct
answer and you should not supply one. What you can insist on is that students
name the assumption their preference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This chapter carries two primary ACGM outcomes, more than any other in the
course. If your department is documenting outcome coverage for assessment, this
is the chapter to sample.
SEQUENCING: if students complete the module first, cut the seven-constitutions
narrative and spend the time on the 1876 design and separation of powers.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BEST ASSIGNMENT from this chapter is the Texas Legislative Council's analysis
of a recent amendment election. It is free, short, plain-language, and shows
students what they are actually voting on. Pair it with the ballot language for
the same amendment and ask which one they could have understood in a voting
booth.
Article I is genuinely readable. Assigning it directly is more effective than
summarizing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use as the exit ticket.
The 1876 framers made a trade: less capacity in exchange for less danger. That
trade is still in force, and students will spend the rest of this course watching
it play out.
Good exit ticket: "Name one thing the Texas government does well because it is
weak, and one thing it does badly for the same reason."
Then preview Chapter 3: if Texas distrusts concentrated power in Austin, what does
it think about concentrated power in Washington?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2</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Texas</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Constitution</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Seven constitutions in fifty-two years. The one Texas kept was written to make a strong government impossible.</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discussion pauses. For a 50 minute class, compress the seven constitutions into the timeline slide and cut the amendment-process detail.</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The through line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here builds to one idea: the 1876 constitution is a reaction to Governor E. J. Davis. Chapters 4, 5, 6, and 18 all inherit it.</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2's six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seven constitutions Texas has lived under and what each was responding to.</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the 1876 framers built a deliberately weak government.</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the Texas Constitution is amended, and why it happens so often.</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separation of powers and checks and balances under Article II.</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Compare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Texas and U.S. Constitutions in structure and philosophy.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CONSTITUTIONAL JOURNEY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Seven constitutions in fifty-two years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2_texas_constitutions.jpg">    </p:cNvPr>
          <p:cNvPicPr>
            <a:picLocks noChangeAspect="1"/>
          </p:cNvPicPr>
          <p:nvPr/>
        </p:nvPicPr>
        <p:blipFill>
          <a:blip r:embed="rId1"/>
          <a:stretch>
            <a:fillRect/>
          </a:stretch>
        </p:blipFill>
        <p:spPr>
          <a:xfrm>
            <a:off x="7635240" y="1783080"/>
            <a:ext cx="3977640" cy="2468880"/>
          </a:xfrm>
          <a:prstGeom prst="rect">
            <a:avLst/>
          </a:prstGeom>
        </p:spPr>
      </p:pic>
      <p:sp>
        <p:nvSpPr>
          <p:cNvPr id="6" name="Text 3"/>
          <p:cNvSpPr txBox="1"/>
          <p:nvPr/>
        </p:nvSpPr>
        <p:spPr>
          <a:xfrm>
            <a:off x="594360" y="180136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1824</a:t>
            </a:r>
            <a:endParaRPr lang="en-US" sz="1500" dirty="0"/>
          </a:p>
        </p:txBody>
      </p:sp>
      <p:sp>
        <p:nvSpPr>
          <p:cNvPr id="7" name="Text 4"/>
          <p:cNvSpPr txBox="1"/>
          <p:nvPr/>
        </p:nvSpPr>
        <p:spPr>
          <a:xfrm>
            <a:off x="1463040" y="178308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Mexican federal constitution. Texas is joined to Coahuila as one state.</a:t>
            </a:r>
            <a:endParaRPr lang="en-US" sz="1250" dirty="0"/>
          </a:p>
        </p:txBody>
      </p:sp>
      <p:sp>
        <p:nvSpPr>
          <p:cNvPr id="8" name="Text 5"/>
          <p:cNvSpPr txBox="1"/>
          <p:nvPr/>
        </p:nvSpPr>
        <p:spPr>
          <a:xfrm>
            <a:off x="594360" y="235000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1827</a:t>
            </a:r>
            <a:endParaRPr lang="en-US" sz="1500" dirty="0"/>
          </a:p>
        </p:txBody>
      </p:sp>
      <p:sp>
        <p:nvSpPr>
          <p:cNvPr id="9" name="Text 6"/>
          <p:cNvSpPr txBox="1"/>
          <p:nvPr/>
        </p:nvSpPr>
        <p:spPr>
          <a:xfrm>
            <a:off x="1463040" y="233172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Coahuila y Tejas state constitution. Texans are a minority in their own state government.</a:t>
            </a:r>
            <a:endParaRPr lang="en-US" sz="1250" dirty="0"/>
          </a:p>
        </p:txBody>
      </p:sp>
      <p:sp>
        <p:nvSpPr>
          <p:cNvPr id="10" name="Text 7"/>
          <p:cNvSpPr txBox="1"/>
          <p:nvPr/>
        </p:nvSpPr>
        <p:spPr>
          <a:xfrm>
            <a:off x="594360" y="289864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1836</a:t>
            </a:r>
            <a:endParaRPr lang="en-US" sz="1500" dirty="0"/>
          </a:p>
        </p:txBody>
      </p:sp>
      <p:sp>
        <p:nvSpPr>
          <p:cNvPr id="11" name="Text 8"/>
          <p:cNvSpPr txBox="1"/>
          <p:nvPr/>
        </p:nvSpPr>
        <p:spPr>
          <a:xfrm>
            <a:off x="1463040" y="288036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Republic of Texas. An independent nation modeled on the United States.</a:t>
            </a:r>
            <a:endParaRPr lang="en-US" sz="1250" dirty="0"/>
          </a:p>
        </p:txBody>
      </p:sp>
      <p:sp>
        <p:nvSpPr>
          <p:cNvPr id="12" name="Text 9"/>
          <p:cNvSpPr txBox="1"/>
          <p:nvPr/>
        </p:nvSpPr>
        <p:spPr>
          <a:xfrm>
            <a:off x="594360" y="344728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1845</a:t>
            </a:r>
            <a:endParaRPr lang="en-US" sz="1500" dirty="0"/>
          </a:p>
        </p:txBody>
      </p:sp>
      <p:sp>
        <p:nvSpPr>
          <p:cNvPr id="13" name="Text 10"/>
          <p:cNvSpPr txBox="1"/>
          <p:nvPr/>
        </p:nvSpPr>
        <p:spPr>
          <a:xfrm>
            <a:off x="1463040" y="342900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Statehood. Widely admired for its clarity and restraint.</a:t>
            </a:r>
            <a:endParaRPr lang="en-US" sz="1250" dirty="0"/>
          </a:p>
        </p:txBody>
      </p:sp>
      <p:sp>
        <p:nvSpPr>
          <p:cNvPr id="14" name="Text 11"/>
          <p:cNvSpPr txBox="1"/>
          <p:nvPr/>
        </p:nvSpPr>
        <p:spPr>
          <a:xfrm>
            <a:off x="594360" y="399592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1861</a:t>
            </a:r>
            <a:endParaRPr lang="en-US" sz="1500" dirty="0"/>
          </a:p>
        </p:txBody>
      </p:sp>
      <p:sp>
        <p:nvSpPr>
          <p:cNvPr id="15" name="Text 12"/>
          <p:cNvSpPr txBox="1"/>
          <p:nvPr/>
        </p:nvSpPr>
        <p:spPr>
          <a:xfrm>
            <a:off x="1463040" y="397764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Confederate. The 1845 document with slavery and secession written in.</a:t>
            </a:r>
            <a:endParaRPr lang="en-US" sz="1250" dirty="0"/>
          </a:p>
        </p:txBody>
      </p:sp>
      <p:sp>
        <p:nvSpPr>
          <p:cNvPr id="16" name="Text 13"/>
          <p:cNvSpPr txBox="1"/>
          <p:nvPr/>
        </p:nvSpPr>
        <p:spPr>
          <a:xfrm>
            <a:off x="594360" y="454456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1866</a:t>
            </a:r>
            <a:endParaRPr lang="en-US" sz="1500" dirty="0"/>
          </a:p>
        </p:txBody>
      </p:sp>
      <p:sp>
        <p:nvSpPr>
          <p:cNvPr id="17" name="Text 14"/>
          <p:cNvSpPr txBox="1"/>
          <p:nvPr/>
        </p:nvSpPr>
        <p:spPr>
          <a:xfrm>
            <a:off x="1463040" y="452628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Presidential Reconstruction. Rejected by Congress as insufficient.</a:t>
            </a:r>
            <a:endParaRPr lang="en-US" sz="1250" dirty="0"/>
          </a:p>
        </p:txBody>
      </p:sp>
      <p:sp>
        <p:nvSpPr>
          <p:cNvPr id="18" name="Text 15"/>
          <p:cNvSpPr txBox="1"/>
          <p:nvPr/>
        </p:nvSpPr>
        <p:spPr>
          <a:xfrm>
            <a:off x="594360" y="509320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1869</a:t>
            </a:r>
            <a:endParaRPr lang="en-US" sz="1500" dirty="0"/>
          </a:p>
        </p:txBody>
      </p:sp>
      <p:sp>
        <p:nvSpPr>
          <p:cNvPr id="19" name="Text 16"/>
          <p:cNvSpPr txBox="1"/>
          <p:nvPr/>
        </p:nvSpPr>
        <p:spPr>
          <a:xfrm>
            <a:off x="1463040" y="507492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Congressional Reconstruction. Centralized power under Governor Davis.</a:t>
            </a:r>
            <a:endParaRPr lang="en-US" sz="1250" dirty="0"/>
          </a:p>
        </p:txBody>
      </p:sp>
      <p:sp>
        <p:nvSpPr>
          <p:cNvPr id="20" name="Text 17"/>
          <p:cNvSpPr txBox="1"/>
          <p:nvPr/>
        </p:nvSpPr>
        <p:spPr>
          <a:xfrm>
            <a:off x="594360" y="5641848"/>
            <a:ext cx="777240" cy="274320"/>
          </a:xfrm>
          <a:prstGeom prst="rect">
            <a:avLst/>
          </a:prstGeom>
          <a:noFill/>
          <a:ln/>
        </p:spPr>
        <p:txBody>
          <a:bodyPr wrap="square" lIns="0" tIns="0" rIns="0" bIns="0" rtlCol="0" anchor="t"/>
          <a:lstStyle/>
          <a:p>
            <a:pPr indent="0" marL="0">
              <a:buNone/>
            </a:pPr>
            <a:r>
              <a:rPr lang="en-US" sz="1500" b="1" dirty="0">
                <a:solidFill>
                  <a:srgbClr val="98002E"/>
                </a:solidFill>
                <a:latin typeface="Cambria" pitchFamily="34" charset="0"/>
                <a:ea typeface="Cambria" pitchFamily="34" charset="-122"/>
                <a:cs typeface="Cambria" pitchFamily="34" charset="-120"/>
              </a:rPr>
              <a:t>1876</a:t>
            </a:r>
            <a:endParaRPr lang="en-US" sz="1500" dirty="0"/>
          </a:p>
        </p:txBody>
      </p:sp>
      <p:sp>
        <p:nvSpPr>
          <p:cNvPr id="21" name="Text 18"/>
          <p:cNvSpPr txBox="1"/>
          <p:nvPr/>
        </p:nvSpPr>
        <p:spPr>
          <a:xfrm>
            <a:off x="1463040" y="5623560"/>
            <a:ext cx="6035040" cy="530352"/>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The reaction. Still in force today.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MEXICAN ERA, 1824 TO 1835</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Governed from somewhere else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2_mexican_constitution.jpg">    </p:cNvPr>
          <p:cNvPicPr>
            <a:picLocks noChangeAspect="1"/>
          </p:cNvPicPr>
          <p:nvPr/>
        </p:nvPicPr>
        <p:blipFill>
          <a:blip r:embed="rId1"/>
          <a:stretch>
            <a:fillRect/>
          </a:stretch>
        </p:blipFill>
        <p:spPr>
          <a:xfrm>
            <a:off x="594360" y="1783080"/>
            <a:ext cx="4846320" cy="2743200"/>
          </a:xfrm>
          <a:prstGeom prst="rect">
            <a:avLst/>
          </a:prstGeom>
        </p:spPr>
      </p:pic>
      <p:sp>
        <p:nvSpPr>
          <p:cNvPr id="6" name="Text 3"/>
          <p:cNvSpPr txBox="1"/>
          <p:nvPr/>
        </p:nvSpPr>
        <p:spPr>
          <a:xfrm>
            <a:off x="5760720" y="1783080"/>
            <a:ext cx="5836615" cy="164592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 1824 Mexican constitution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created a federal republic and left Texas too thinly populated to be its own state. It was joined to Coahuila, and the 1827 constitution of Coahuila y Tejas gave Texas a small minority of the seats in a legislature that met far to the south, conducted business in Spanish, and rarely prioritized Texan concerns.</a:t>
            </a:r>
            <a:endParaRPr lang="en-US" sz="1350" dirty="0"/>
          </a:p>
        </p:txBody>
      </p:sp>
      <p:sp>
        <p:nvSpPr>
          <p:cNvPr id="7" name="Text 4"/>
          <p:cNvSpPr txBox="1"/>
          <p:nvPr/>
        </p:nvSpPr>
        <p:spPr>
          <a:xfrm>
            <a:off x="5760720" y="3474720"/>
            <a:ext cx="5836615" cy="118872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Then it got worse.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In 1835 Santa Anna dissolved the federal system entirely and replaced it with centralized rule from Mexico City. Settlers who had come expecting local self-government lost even the limited voice they had.</a:t>
            </a:r>
            <a:endParaRPr lang="en-US" sz="1350" dirty="0"/>
          </a:p>
        </p:txBody>
      </p:sp>
      <p:sp>
        <p:nvSpPr>
          <p:cNvPr id="8" name="Shape 5"/>
          <p:cNvSpPr/>
          <p:nvPr/>
        </p:nvSpPr>
        <p:spPr>
          <a:xfrm>
            <a:off x="594360" y="4754880"/>
            <a:ext cx="11002975" cy="1097280"/>
          </a:xfrm>
          <a:prstGeom prst="roundRect">
            <a:avLst>
              <a:gd name="adj" fmla="val 5833"/>
            </a:avLst>
          </a:prstGeom>
          <a:solidFill>
            <a:srgbClr val="FFFFFF"/>
          </a:solidFill>
          <a:ln w="19050">
            <a:solidFill>
              <a:srgbClr val="B07D2B"/>
            </a:solidFill>
            <a:prstDash val="solid"/>
          </a:ln>
        </p:spPr>
      </p:sp>
      <p:sp>
        <p:nvSpPr>
          <p:cNvPr id="9" name="Text 6"/>
          <p:cNvSpPr txBox="1"/>
          <p:nvPr/>
        </p:nvSpPr>
        <p:spPr>
          <a:xfrm>
            <a:off x="868680" y="49194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grievance that outlives the era</a:t>
            </a:r>
            <a:endParaRPr lang="en-US" sz="1400" dirty="0"/>
          </a:p>
        </p:txBody>
      </p:sp>
      <p:sp>
        <p:nvSpPr>
          <p:cNvPr id="10" name="Text 7"/>
          <p:cNvSpPr txBox="1"/>
          <p:nvPr/>
        </p:nvSpPr>
        <p:spPr>
          <a:xfrm>
            <a:off x="868680" y="5285232"/>
            <a:ext cx="10454335" cy="3840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Being governed by a distant capital that does not share your interests is the complaint that produced the Texas Revolution. It reappears in Texas politics for the next two centuries, aimed at Washington instead of Mexico City.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1836 AND 1845</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Writing a country, then joining one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5318608" cy="2743200"/>
          </a:xfrm>
          <a:prstGeom prst="roundRect">
            <a:avLst>
              <a:gd name="adj" fmla="val 2667"/>
            </a:avLst>
          </a:prstGeom>
          <a:solidFill>
            <a:srgbClr val="FFFFFF"/>
          </a:solidFill>
          <a:ln w="12700">
            <a:solidFill>
              <a:srgbClr val="E0D7C6"/>
            </a:solidFill>
            <a:prstDash val="solid"/>
          </a:ln>
        </p:spPr>
      </p:sp>
      <p:sp>
        <p:nvSpPr>
          <p:cNvPr id="6" name="Text 4"/>
          <p:cNvSpPr txBox="1"/>
          <p:nvPr/>
        </p:nvSpPr>
        <p:spPr>
          <a:xfrm>
            <a:off x="868680" y="1965960"/>
            <a:ext cx="4769968" cy="457200"/>
          </a:xfrm>
          <a:prstGeom prst="rect">
            <a:avLst/>
          </a:prstGeom>
          <a:noFill/>
          <a:ln/>
        </p:spPr>
        <p:txBody>
          <a:bodyPr wrap="square" lIns="0" tIns="0" rIns="0" bIns="0" rtlCol="0" anchor="ctr"/>
          <a:lstStyle/>
          <a:p>
            <a:pPr indent="0" marL="0">
              <a:buNone/>
            </a:pPr>
            <a:r>
              <a:rPr lang="en-US" sz="2600" b="1" dirty="0">
                <a:solidFill>
                  <a:srgbClr val="B07D2B"/>
                </a:solidFill>
                <a:latin typeface="Cambria" pitchFamily="34" charset="0"/>
                <a:ea typeface="Cambria" pitchFamily="34" charset="-122"/>
                <a:cs typeface="Cambria" pitchFamily="34" charset="-120"/>
              </a:rPr>
              <a:t>1836</a:t>
            </a:r>
            <a:endParaRPr lang="en-US" sz="2600" dirty="0"/>
          </a:p>
        </p:txBody>
      </p:sp>
      <p:sp>
        <p:nvSpPr>
          <p:cNvPr id="7" name="Text 5"/>
          <p:cNvSpPr txBox="1"/>
          <p:nvPr/>
        </p:nvSpPr>
        <p:spPr>
          <a:xfrm>
            <a:off x="868680" y="2423160"/>
            <a:ext cx="4769968" cy="365760"/>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Republic of Texas</a:t>
            </a:r>
            <a:endParaRPr lang="en-US" sz="1500" dirty="0"/>
          </a:p>
        </p:txBody>
      </p:sp>
      <p:sp>
        <p:nvSpPr>
          <p:cNvPr id="8" name="Text 6"/>
          <p:cNvSpPr txBox="1"/>
          <p:nvPr/>
        </p:nvSpPr>
        <p:spPr>
          <a:xfrm>
            <a:off x="868680" y="2834640"/>
            <a:ext cx="4769968" cy="15544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Written in about two weeks while the Mexican army advanced. Borrowed heavily from the United States: three branches, a bill of rights, a president. It also protected slavery explicitly and barred free Black people from residing in Texas without congressional consent.</a:t>
            </a:r>
            <a:endParaRPr lang="en-US" sz="1250" dirty="0"/>
          </a:p>
        </p:txBody>
      </p:sp>
      <p:sp>
        <p:nvSpPr>
          <p:cNvPr id="9" name="Shape 7"/>
          <p:cNvSpPr/>
          <p:nvPr/>
        </p:nvSpPr>
        <p:spPr>
          <a:xfrm>
            <a:off x="6278728" y="1783080"/>
            <a:ext cx="5318608" cy="2743200"/>
          </a:xfrm>
          <a:prstGeom prst="roundRect">
            <a:avLst>
              <a:gd name="adj" fmla="val 2667"/>
            </a:avLst>
          </a:prstGeom>
          <a:solidFill>
            <a:srgbClr val="FFFFFF"/>
          </a:solidFill>
          <a:ln w="12700">
            <a:solidFill>
              <a:srgbClr val="E0D7C6"/>
            </a:solidFill>
            <a:prstDash val="solid"/>
          </a:ln>
        </p:spPr>
      </p:sp>
      <p:sp>
        <p:nvSpPr>
          <p:cNvPr id="10" name="Text 8"/>
          <p:cNvSpPr txBox="1"/>
          <p:nvPr/>
        </p:nvSpPr>
        <p:spPr>
          <a:xfrm>
            <a:off x="6553048" y="1965960"/>
            <a:ext cx="4769968" cy="457200"/>
          </a:xfrm>
          <a:prstGeom prst="rect">
            <a:avLst/>
          </a:prstGeom>
          <a:noFill/>
          <a:ln/>
        </p:spPr>
        <p:txBody>
          <a:bodyPr wrap="square" lIns="0" tIns="0" rIns="0" bIns="0" rtlCol="0" anchor="ctr"/>
          <a:lstStyle/>
          <a:p>
            <a:pPr indent="0" marL="0">
              <a:buNone/>
            </a:pPr>
            <a:r>
              <a:rPr lang="en-US" sz="2600" b="1" dirty="0">
                <a:solidFill>
                  <a:srgbClr val="B07D2B"/>
                </a:solidFill>
                <a:latin typeface="Cambria" pitchFamily="34" charset="0"/>
                <a:ea typeface="Cambria" pitchFamily="34" charset="-122"/>
                <a:cs typeface="Cambria" pitchFamily="34" charset="-120"/>
              </a:rPr>
              <a:t>1845</a:t>
            </a:r>
            <a:endParaRPr lang="en-US" sz="2600" dirty="0"/>
          </a:p>
        </p:txBody>
      </p:sp>
      <p:sp>
        <p:nvSpPr>
          <p:cNvPr id="11" name="Text 9"/>
          <p:cNvSpPr txBox="1"/>
          <p:nvPr/>
        </p:nvSpPr>
        <p:spPr>
          <a:xfrm>
            <a:off x="6553048" y="2423160"/>
            <a:ext cx="4769968" cy="365760"/>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Statehood</a:t>
            </a:r>
            <a:endParaRPr lang="en-US" sz="1500" dirty="0"/>
          </a:p>
        </p:txBody>
      </p:sp>
      <p:sp>
        <p:nvSpPr>
          <p:cNvPr id="12" name="Text 10"/>
          <p:cNvSpPr txBox="1"/>
          <p:nvPr/>
        </p:nvSpPr>
        <p:spPr>
          <a:xfrm>
            <a:off x="6553048" y="2834640"/>
            <a:ext cx="4769968" cy="15544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Often called the best constitution Texas ever had. Short, clear, and restrained. It protected homesteads from creditors and recognized community property, both durable Texas contributions. Texas also kept its public lands, which no other annexed territory did.</a:t>
            </a:r>
            <a:endParaRPr lang="en-US" sz="1250" dirty="0"/>
          </a:p>
        </p:txBody>
      </p:sp>
      <p:pic>
        <p:nvPicPr>
          <p:cNvPr id="13" name="Image 0" descr="images/tx2_republic_texas.jpg">    </p:cNvPr>
          <p:cNvPicPr>
            <a:picLocks noChangeAspect="1"/>
          </p:cNvPicPr>
          <p:nvPr/>
        </p:nvPicPr>
        <p:blipFill>
          <a:blip r:embed="rId1"/>
          <a:stretch>
            <a:fillRect/>
          </a:stretch>
        </p:blipFill>
        <p:spPr>
          <a:xfrm>
            <a:off x="594360" y="4709160"/>
            <a:ext cx="4572000" cy="1371600"/>
          </a:xfrm>
          <a:prstGeom prst="rect">
            <a:avLst/>
          </a:prstGeom>
        </p:spPr>
      </p:pic>
      <p:sp>
        <p:nvSpPr>
          <p:cNvPr id="14" name="Text 11"/>
          <p:cNvSpPr txBox="1"/>
          <p:nvPr/>
        </p:nvSpPr>
        <p:spPr>
          <a:xfrm>
            <a:off x="5349240" y="4754880"/>
            <a:ext cx="6248095" cy="128016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Why keeping the public lands still matters: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those lands became the Permanent School Fund and the Permanent University Fund. Oil and gas royalties from them support Texas public education and the UT and A&amp;M systems to this day. Chapter 14 follows the money.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CIVIL WAR AND RECONSTRUCTION, 1861 TO 1869</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Three constitutions in eight years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83080"/>
            <a:ext cx="3484778" cy="2377440"/>
          </a:xfrm>
          <a:prstGeom prst="roundRect">
            <a:avLst>
              <a:gd name="adj" fmla="val 2692"/>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1861</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Confederate</a:t>
            </a:r>
            <a:endParaRPr lang="en-US" sz="1350" dirty="0"/>
          </a:p>
        </p:txBody>
      </p:sp>
      <p:sp>
        <p:nvSpPr>
          <p:cNvPr id="8" name="Text 6"/>
          <p:cNvSpPr txBox="1"/>
          <p:nvPr/>
        </p:nvSpPr>
        <p:spPr>
          <a:xfrm>
            <a:off x="813816"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1845 constitution with secession recognized and slavery entrenched. Emancipation is prohibited.</a:t>
            </a:r>
            <a:endParaRPr lang="en-US" sz="1200" dirty="0"/>
          </a:p>
        </p:txBody>
      </p:sp>
      <p:sp>
        <p:nvSpPr>
          <p:cNvPr id="9" name="Shape 7"/>
          <p:cNvSpPr/>
          <p:nvPr/>
        </p:nvSpPr>
        <p:spPr>
          <a:xfrm>
            <a:off x="4353458" y="1783080"/>
            <a:ext cx="3484778" cy="2377440"/>
          </a:xfrm>
          <a:prstGeom prst="roundRect">
            <a:avLst>
              <a:gd name="adj" fmla="val 2692"/>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1866</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Presidential</a:t>
            </a:r>
            <a:endParaRPr lang="en-US" sz="1350" dirty="0"/>
          </a:p>
        </p:txBody>
      </p:sp>
      <p:sp>
        <p:nvSpPr>
          <p:cNvPr id="12" name="Text 10"/>
          <p:cNvSpPr txBox="1"/>
          <p:nvPr/>
        </p:nvSpPr>
        <p:spPr>
          <a:xfrm>
            <a:off x="4572914"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Written under Andrew Johnson's lenient terms. Abolishes slavery but denies Black Texans the vote and equal rights. Congress rejects it.</a:t>
            </a:r>
            <a:endParaRPr lang="en-US" sz="1200" dirty="0"/>
          </a:p>
        </p:txBody>
      </p:sp>
      <p:sp>
        <p:nvSpPr>
          <p:cNvPr id="13" name="Shape 11"/>
          <p:cNvSpPr/>
          <p:nvPr/>
        </p:nvSpPr>
        <p:spPr>
          <a:xfrm>
            <a:off x="8112557" y="1783080"/>
            <a:ext cx="3484778" cy="2377440"/>
          </a:xfrm>
          <a:prstGeom prst="roundRect">
            <a:avLst>
              <a:gd name="adj" fmla="val 2692"/>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1869</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Congressional</a:t>
            </a:r>
            <a:endParaRPr lang="en-US" sz="1350" dirty="0"/>
          </a:p>
        </p:txBody>
      </p:sp>
      <p:sp>
        <p:nvSpPr>
          <p:cNvPr id="16" name="Text 14"/>
          <p:cNvSpPr txBox="1"/>
          <p:nvPr/>
        </p:nvSpPr>
        <p:spPr>
          <a:xfrm>
            <a:off x="8332013"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Written under federal military oversight. Grants Black male suffrage, creates public schools, and centralizes power in the governor.</a:t>
            </a:r>
            <a:endParaRPr lang="en-US" sz="1200" dirty="0"/>
          </a:p>
        </p:txBody>
      </p:sp>
      <p:pic>
        <p:nvPicPr>
          <p:cNvPr id="17" name="Image 0" descr="images/tx2_reconstruction.jpg">    </p:cNvPr>
          <p:cNvPicPr>
            <a:picLocks noChangeAspect="1"/>
          </p:cNvPicPr>
          <p:nvPr/>
        </p:nvPicPr>
        <p:blipFill>
          <a:blip r:embed="rId1"/>
          <a:stretch>
            <a:fillRect/>
          </a:stretch>
        </p:blipFill>
        <p:spPr>
          <a:xfrm>
            <a:off x="594360" y="4434840"/>
            <a:ext cx="4754880" cy="1508760"/>
          </a:xfrm>
          <a:prstGeom prst="rect">
            <a:avLst/>
          </a:prstGeom>
        </p:spPr>
      </p:pic>
      <p:sp>
        <p:nvSpPr>
          <p:cNvPr id="18" name="Shape 15"/>
          <p:cNvSpPr/>
          <p:nvPr/>
        </p:nvSpPr>
        <p:spPr>
          <a:xfrm>
            <a:off x="5577840" y="4434840"/>
            <a:ext cx="6019495" cy="1508760"/>
          </a:xfrm>
          <a:prstGeom prst="roundRect">
            <a:avLst>
              <a:gd name="adj" fmla="val 4242"/>
            </a:avLst>
          </a:prstGeom>
          <a:solidFill>
            <a:srgbClr val="FFFFFF"/>
          </a:solidFill>
          <a:ln w="19050">
            <a:solidFill>
              <a:srgbClr val="B07D2B"/>
            </a:solidFill>
            <a:prstDash val="solid"/>
          </a:ln>
        </p:spPr>
      </p:sp>
      <p:sp>
        <p:nvSpPr>
          <p:cNvPr id="19" name="Text 16"/>
          <p:cNvSpPr txBox="1"/>
          <p:nvPr/>
        </p:nvSpPr>
        <p:spPr>
          <a:xfrm>
            <a:off x="5852160" y="4599432"/>
            <a:ext cx="547085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1869 mattered so much</a:t>
            </a:r>
            <a:endParaRPr lang="en-US" sz="1400" dirty="0"/>
          </a:p>
        </p:txBody>
      </p:sp>
      <p:sp>
        <p:nvSpPr>
          <p:cNvPr id="20" name="Text 17"/>
          <p:cNvSpPr txBox="1"/>
          <p:nvPr/>
        </p:nvSpPr>
        <p:spPr>
          <a:xfrm>
            <a:off x="5852160" y="4965192"/>
            <a:ext cx="5470855" cy="7955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It gave the governor a four year term, control of appointments, authority over voter registration, and a state police force. Those powers went to E. J. Davis, and the reaction against how he used them produced the constitution Texas still has.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Rewriting the rules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replaced its constitution seven times in fifty-two years, each time reacting against the last. Is frequent constitutional rewriting a sign of a healthy democracy adapting, or an unstable one failing to settle its basic questions?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1869 constitution centralized power, created public schools, and enfranchised Black men. How should a state remember a government that expanded democracy and concentrated power at the same time?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1845 constitution is widely considered the best Texas ever had, and it lasted sixteen years. What does that suggest about what makes a constitution durable?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CONSTITUTION OF 1876</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Built to make another Davis impossible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2_1876_convention.jpg">    </p:cNvPr>
          <p:cNvPicPr>
            <a:picLocks noChangeAspect="1"/>
          </p:cNvPicPr>
          <p:nvPr/>
        </p:nvPicPr>
        <p:blipFill>
          <a:blip r:embed="rId1"/>
          <a:stretch>
            <a:fillRect/>
          </a:stretch>
        </p:blipFill>
        <p:spPr>
          <a:xfrm>
            <a:off x="7589520" y="1783080"/>
            <a:ext cx="4023360" cy="2331720"/>
          </a:xfrm>
          <a:prstGeom prst="rect">
            <a:avLst/>
          </a:prstGeom>
        </p:spPr>
      </p:pic>
      <p:sp>
        <p:nvSpPr>
          <p:cNvPr id="6" name="Text 3"/>
          <p:cNvSpPr txBox="1"/>
          <p:nvPr/>
        </p:nvSpPr>
        <p:spPr>
          <a:xfrm>
            <a:off x="594360" y="1801368"/>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Weak governor</a:t>
            </a:r>
            <a:endParaRPr lang="en-US" sz="1350" dirty="0"/>
          </a:p>
        </p:txBody>
      </p:sp>
      <p:sp>
        <p:nvSpPr>
          <p:cNvPr id="7" name="Text 4"/>
          <p:cNvSpPr txBox="1"/>
          <p:nvPr/>
        </p:nvSpPr>
        <p:spPr>
          <a:xfrm>
            <a:off x="3063240" y="1783080"/>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Short term, limited appointment power, almost no removal power.</a:t>
            </a:r>
            <a:endParaRPr lang="en-US" sz="1250" dirty="0"/>
          </a:p>
        </p:txBody>
      </p:sp>
      <p:sp>
        <p:nvSpPr>
          <p:cNvPr id="8" name="Text 5"/>
          <p:cNvSpPr txBox="1"/>
          <p:nvPr/>
        </p:nvSpPr>
        <p:spPr>
          <a:xfrm>
            <a:off x="594360" y="2459736"/>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Plural executive</a:t>
            </a:r>
            <a:endParaRPr lang="en-US" sz="1350" dirty="0"/>
          </a:p>
        </p:txBody>
      </p:sp>
      <p:sp>
        <p:nvSpPr>
          <p:cNvPr id="9" name="Text 6"/>
          <p:cNvSpPr txBox="1"/>
          <p:nvPr/>
        </p:nvSpPr>
        <p:spPr>
          <a:xfrm>
            <a:off x="3063240" y="2441448"/>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Attorney general, comptroller, land commissioner, and agriculture commissioner all elected separately.</a:t>
            </a:r>
            <a:endParaRPr lang="en-US" sz="1250" dirty="0"/>
          </a:p>
        </p:txBody>
      </p:sp>
      <p:sp>
        <p:nvSpPr>
          <p:cNvPr id="10" name="Text 7"/>
          <p:cNvSpPr txBox="1"/>
          <p:nvPr/>
        </p:nvSpPr>
        <p:spPr>
          <a:xfrm>
            <a:off x="594360" y="3118104"/>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Part-time legislature</a:t>
            </a:r>
            <a:endParaRPr lang="en-US" sz="1350" dirty="0"/>
          </a:p>
        </p:txBody>
      </p:sp>
      <p:sp>
        <p:nvSpPr>
          <p:cNvPr id="11" name="Text 8"/>
          <p:cNvSpPr txBox="1"/>
          <p:nvPr/>
        </p:nvSpPr>
        <p:spPr>
          <a:xfrm>
            <a:off x="3063240" y="3099816"/>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140 days every two years, with low pay.</a:t>
            </a:r>
            <a:endParaRPr lang="en-US" sz="1250" dirty="0"/>
          </a:p>
        </p:txBody>
      </p:sp>
      <p:sp>
        <p:nvSpPr>
          <p:cNvPr id="12" name="Text 9"/>
          <p:cNvSpPr txBox="1"/>
          <p:nvPr/>
        </p:nvSpPr>
        <p:spPr>
          <a:xfrm>
            <a:off x="594360" y="3776472"/>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Elected judges</a:t>
            </a:r>
            <a:endParaRPr lang="en-US" sz="1350" dirty="0"/>
          </a:p>
        </p:txBody>
      </p:sp>
      <p:sp>
        <p:nvSpPr>
          <p:cNvPr id="13" name="Text 10"/>
          <p:cNvSpPr txBox="1"/>
          <p:nvPr/>
        </p:nvSpPr>
        <p:spPr>
          <a:xfrm>
            <a:off x="3063240" y="3758184"/>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judiciary answers to voters, not to whoever appoints.</a:t>
            </a:r>
            <a:endParaRPr lang="en-US" sz="1250" dirty="0"/>
          </a:p>
        </p:txBody>
      </p:sp>
      <p:sp>
        <p:nvSpPr>
          <p:cNvPr id="14" name="Text 11"/>
          <p:cNvSpPr txBox="1"/>
          <p:nvPr/>
        </p:nvSpPr>
        <p:spPr>
          <a:xfrm>
            <a:off x="594360" y="4434840"/>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Restricted, not granted</a:t>
            </a:r>
            <a:endParaRPr lang="en-US" sz="1350" dirty="0"/>
          </a:p>
        </p:txBody>
      </p:sp>
      <p:sp>
        <p:nvSpPr>
          <p:cNvPr id="15" name="Text 12"/>
          <p:cNvSpPr txBox="1"/>
          <p:nvPr/>
        </p:nvSpPr>
        <p:spPr>
          <a:xfrm>
            <a:off x="3063240" y="4416552"/>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document limits in detail rather than granting power broadly, so change usually requires amendment.</a:t>
            </a:r>
            <a:endParaRPr lang="en-US" sz="1250" dirty="0"/>
          </a:p>
        </p:txBody>
      </p:sp>
      <p:sp>
        <p:nvSpPr>
          <p:cNvPr id="16" name="Shape 13"/>
          <p:cNvSpPr/>
          <p:nvPr/>
        </p:nvSpPr>
        <p:spPr>
          <a:xfrm>
            <a:off x="594360" y="5212080"/>
            <a:ext cx="11002975" cy="1143000"/>
          </a:xfrm>
          <a:prstGeom prst="roundRect">
            <a:avLst>
              <a:gd name="adj" fmla="val 5600"/>
            </a:avLst>
          </a:prstGeom>
          <a:solidFill>
            <a:srgbClr val="FFFFFF"/>
          </a:solidFill>
          <a:ln w="19050">
            <a:solidFill>
              <a:srgbClr val="B07D2B"/>
            </a:solidFill>
            <a:prstDash val="solid"/>
          </a:ln>
        </p:spPr>
      </p:sp>
      <p:sp>
        <p:nvSpPr>
          <p:cNvPr id="17" name="Text 14"/>
          <p:cNvSpPr txBox="1"/>
          <p:nvPr/>
        </p:nvSpPr>
        <p:spPr>
          <a:xfrm>
            <a:off x="868680" y="53766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Article I comes first, on purpose</a:t>
            </a:r>
            <a:endParaRPr lang="en-US" sz="1400" dirty="0"/>
          </a:p>
        </p:txBody>
      </p:sp>
      <p:sp>
        <p:nvSpPr>
          <p:cNvPr id="18" name="Text 15"/>
          <p:cNvSpPr txBox="1"/>
          <p:nvPr/>
        </p:nvSpPr>
        <p:spPr>
          <a:xfrm>
            <a:off x="868680" y="5742432"/>
            <a:ext cx="10454335" cy="4297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Bill of Rights opens the document, before any description of government power. Section 29 declares that everything in it is excepted out of the general powers of government and that any contrary law shall be void. Rights are stated as boundaries, not as grants.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AMENDMENT PROCESS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Texans vote on constitutional amendments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2_texas_ballot.jpg">    </p:cNvPr>
          <p:cNvPicPr>
            <a:picLocks noChangeAspect="1"/>
          </p:cNvPicPr>
          <p:nvPr/>
        </p:nvPicPr>
        <p:blipFill>
          <a:blip r:embed="rId1"/>
          <a:stretch>
            <a:fillRect/>
          </a:stretch>
        </p:blipFill>
        <p:spPr>
          <a:xfrm>
            <a:off x="7635240" y="1783080"/>
            <a:ext cx="3977640" cy="2286000"/>
          </a:xfrm>
          <a:prstGeom prst="rect">
            <a:avLst/>
          </a:prstGeom>
        </p:spPr>
      </p:pic>
      <p:sp>
        <p:nvSpPr>
          <p:cNvPr id="6" name="Shape 3"/>
          <p:cNvSpPr/>
          <p:nvPr/>
        </p:nvSpPr>
        <p:spPr>
          <a:xfrm>
            <a:off x="594360" y="1783080"/>
            <a:ext cx="5364328" cy="2286000"/>
          </a:xfrm>
          <a:prstGeom prst="roundRect">
            <a:avLst>
              <a:gd name="adj" fmla="val 2800"/>
            </a:avLst>
          </a:prstGeom>
          <a:solidFill>
            <a:srgbClr val="FFFFFF"/>
          </a:solidFill>
          <a:ln w="12700">
            <a:solidFill>
              <a:srgbClr val="E0D7C6"/>
            </a:solidFill>
            <a:prstDash val="solid"/>
          </a:ln>
        </p:spPr>
      </p:sp>
      <p:sp>
        <p:nvSpPr>
          <p:cNvPr id="7" name="Text 4"/>
          <p:cNvSpPr txBox="1"/>
          <p:nvPr/>
        </p:nvSpPr>
        <p:spPr>
          <a:xfrm>
            <a:off x="813816" y="1984248"/>
            <a:ext cx="492541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1</a:t>
            </a:r>
            <a:endParaRPr lang="en-US" sz="2200" dirty="0"/>
          </a:p>
        </p:txBody>
      </p:sp>
      <p:sp>
        <p:nvSpPr>
          <p:cNvPr id="8" name="Text 5"/>
          <p:cNvSpPr txBox="1"/>
          <p:nvPr/>
        </p:nvSpPr>
        <p:spPr>
          <a:xfrm>
            <a:off x="813816" y="2404872"/>
            <a:ext cx="492541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Two-thirds of each chamber</a:t>
            </a:r>
            <a:endParaRPr lang="en-US" sz="1350" dirty="0"/>
          </a:p>
        </p:txBody>
      </p:sp>
      <p:sp>
        <p:nvSpPr>
          <p:cNvPr id="9" name="Text 6"/>
          <p:cNvSpPr txBox="1"/>
          <p:nvPr/>
        </p:nvSpPr>
        <p:spPr>
          <a:xfrm>
            <a:off x="813816" y="2880360"/>
            <a:ext cx="4925416" cy="105156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Both the House and Senate must approve by a two-thirds vote of all members elected.</a:t>
            </a:r>
            <a:endParaRPr lang="en-US" sz="1200" dirty="0"/>
          </a:p>
        </p:txBody>
      </p:sp>
      <p:sp>
        <p:nvSpPr>
          <p:cNvPr id="10" name="Shape 7"/>
          <p:cNvSpPr/>
          <p:nvPr/>
        </p:nvSpPr>
        <p:spPr>
          <a:xfrm>
            <a:off x="6233008" y="1783080"/>
            <a:ext cx="5364328" cy="2286000"/>
          </a:xfrm>
          <a:prstGeom prst="roundRect">
            <a:avLst>
              <a:gd name="adj" fmla="val 2800"/>
            </a:avLst>
          </a:prstGeom>
          <a:solidFill>
            <a:srgbClr val="002B5C"/>
          </a:solidFill>
          <a:ln w="12700">
            <a:solidFill>
              <a:srgbClr val="002B5C"/>
            </a:solidFill>
            <a:prstDash val="solid"/>
          </a:ln>
        </p:spPr>
      </p:sp>
      <p:sp>
        <p:nvSpPr>
          <p:cNvPr id="11" name="Text 8"/>
          <p:cNvSpPr txBox="1"/>
          <p:nvPr/>
        </p:nvSpPr>
        <p:spPr>
          <a:xfrm>
            <a:off x="6452464" y="1984248"/>
            <a:ext cx="492541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2</a:t>
            </a:r>
            <a:endParaRPr lang="en-US" sz="2200" dirty="0"/>
          </a:p>
        </p:txBody>
      </p:sp>
      <p:sp>
        <p:nvSpPr>
          <p:cNvPr id="12" name="Text 9"/>
          <p:cNvSpPr txBox="1"/>
          <p:nvPr/>
        </p:nvSpPr>
        <p:spPr>
          <a:xfrm>
            <a:off x="6452464" y="2404872"/>
            <a:ext cx="492541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Voters decide</a:t>
            </a:r>
            <a:endParaRPr lang="en-US" sz="1350" dirty="0"/>
          </a:p>
        </p:txBody>
      </p:sp>
      <p:sp>
        <p:nvSpPr>
          <p:cNvPr id="13" name="Text 10"/>
          <p:cNvSpPr txBox="1"/>
          <p:nvPr/>
        </p:nvSpPr>
        <p:spPr>
          <a:xfrm>
            <a:off x="6452464" y="2880360"/>
            <a:ext cx="4925416" cy="105156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A simple majority of those voting. The governor has no role and cannot veto.</a:t>
            </a:r>
            <a:endParaRPr lang="en-US" sz="1200" dirty="0"/>
          </a:p>
        </p:txBody>
      </p:sp>
      <p:sp>
        <p:nvSpPr>
          <p:cNvPr id="14" name="Shape 11"/>
          <p:cNvSpPr/>
          <p:nvPr/>
        </p:nvSpPr>
        <p:spPr>
          <a:xfrm>
            <a:off x="594360" y="4343400"/>
            <a:ext cx="6858000" cy="1188720"/>
          </a:xfrm>
          <a:prstGeom prst="roundRect">
            <a:avLst>
              <a:gd name="adj" fmla="val 5385"/>
            </a:avLst>
          </a:prstGeom>
          <a:solidFill>
            <a:srgbClr val="002B5C"/>
          </a:solidFill>
          <a:ln/>
        </p:spPr>
      </p:sp>
      <p:sp>
        <p:nvSpPr>
          <p:cNvPr id="15" name="Text 12"/>
          <p:cNvSpPr txBox="1"/>
          <p:nvPr/>
        </p:nvSpPr>
        <p:spPr>
          <a:xfrm>
            <a:off x="822960" y="4453128"/>
            <a:ext cx="2011680" cy="96926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500+</a:t>
            </a:r>
            <a:endParaRPr lang="en-US" sz="4600" dirty="0"/>
          </a:p>
        </p:txBody>
      </p:sp>
      <p:sp>
        <p:nvSpPr>
          <p:cNvPr id="16" name="Text 13"/>
          <p:cNvSpPr txBox="1"/>
          <p:nvPr/>
        </p:nvSpPr>
        <p:spPr>
          <a:xfrm>
            <a:off x="2971800" y="4453128"/>
            <a:ext cx="4251960" cy="96926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amendments adopted since 1876, out of nearly 700 proposed. The document now runs past 86,000 words, about eleven times the length of the U.S. Constitution.</a:t>
            </a:r>
            <a:endParaRPr lang="en-US" sz="1300" dirty="0"/>
          </a:p>
        </p:txBody>
      </p:sp>
      <p:sp>
        <p:nvSpPr>
          <p:cNvPr id="17" name="Text 14"/>
          <p:cNvSpPr txBox="1"/>
          <p:nvPr/>
        </p:nvSpPr>
        <p:spPr>
          <a:xfrm>
            <a:off x="594360" y="5715000"/>
            <a:ext cx="6858000" cy="502920"/>
          </a:xfrm>
          <a:prstGeom prst="rect">
            <a:avLst/>
          </a:prstGeom>
          <a:noFill/>
          <a:ln/>
        </p:spPr>
        <p:txBody>
          <a:bodyPr wrap="square" lIns="0" tIns="0" rIns="0" bIns="0" rtlCol="0" anchor="t"/>
          <a:lstStyle/>
          <a:p>
            <a:pPr indent="0" marL="0">
              <a:lnSpc>
                <a:spcPts val="1700"/>
              </a:lnSpc>
              <a:buNone/>
            </a:pPr>
            <a:r>
              <a:rPr lang="en-US" sz="1250" i="1" dirty="0">
                <a:solidFill>
                  <a:srgbClr val="002B5C"/>
                </a:solidFill>
                <a:latin typeface="Calibri" pitchFamily="34" charset="0"/>
                <a:ea typeface="Calibri" pitchFamily="34" charset="-122"/>
                <a:cs typeface="Calibri" pitchFamily="34" charset="-120"/>
              </a:rPr>
              <a:t>Because the constitution restricts in detail, ordinary policy changes often require amending it. That is the cause, not carelessness.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SEPARATION OF POWERS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Article II, stated more bluntly than Washington does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94360" y="1737360"/>
            <a:ext cx="11002975" cy="640080"/>
          </a:xfrm>
          <a:prstGeom prst="rect">
            <a:avLst/>
          </a:prstGeom>
          <a:noFill/>
          <a:ln/>
        </p:spPr>
        <p:txBody>
          <a:bodyPr wrap="square" lIns="0" tIns="0" rIns="0" bIns="0" rtlCol="0" anchor="t"/>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The U.S. Constitution never uses the phrase. It simply assigns power to three branches. Texas devotes an entire article to the rule, and forbids anyone in one department from exercising power belonging to another except where the constitution expressly permits it.</a:t>
            </a:r>
            <a:endParaRPr lang="en-US" sz="1400" dirty="0"/>
          </a:p>
        </p:txBody>
      </p:sp>
      <p:sp>
        <p:nvSpPr>
          <p:cNvPr id="6" name="Shape 4"/>
          <p:cNvSpPr/>
          <p:nvPr/>
        </p:nvSpPr>
        <p:spPr>
          <a:xfrm>
            <a:off x="594360" y="2514600"/>
            <a:ext cx="11002975" cy="1005840"/>
          </a:xfrm>
          <a:prstGeom prst="roundRect">
            <a:avLst>
              <a:gd name="adj" fmla="val 5455"/>
            </a:avLst>
          </a:prstGeom>
          <a:solidFill>
            <a:srgbClr val="FFFFFF"/>
          </a:solidFill>
          <a:ln w="12700">
            <a:solidFill>
              <a:srgbClr val="E0D7C6"/>
            </a:solidFill>
            <a:prstDash val="solid"/>
          </a:ln>
        </p:spPr>
      </p:sp>
      <p:sp>
        <p:nvSpPr>
          <p:cNvPr id="7" name="Shape 5"/>
          <p:cNvSpPr/>
          <p:nvPr/>
        </p:nvSpPr>
        <p:spPr>
          <a:xfrm>
            <a:off x="795528" y="2788920"/>
            <a:ext cx="457200" cy="457200"/>
          </a:xfrm>
          <a:prstGeom prst="ellipse">
            <a:avLst/>
          </a:prstGeom>
          <a:solidFill>
            <a:srgbClr val="00788A"/>
          </a:solidFill>
          <a:ln/>
        </p:spPr>
      </p:sp>
      <p:sp>
        <p:nvSpPr>
          <p:cNvPr id="8" name="Text 6"/>
          <p:cNvSpPr txBox="1"/>
          <p:nvPr/>
        </p:nvSpPr>
        <p:spPr>
          <a:xfrm>
            <a:off x="795528" y="278892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9" name="Text 7"/>
          <p:cNvSpPr txBox="1"/>
          <p:nvPr/>
        </p:nvSpPr>
        <p:spPr>
          <a:xfrm>
            <a:off x="1399032" y="2788920"/>
            <a:ext cx="228600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Legislature checks</a:t>
            </a:r>
            <a:endParaRPr lang="en-US" sz="1400" dirty="0"/>
          </a:p>
        </p:txBody>
      </p:sp>
      <p:sp>
        <p:nvSpPr>
          <p:cNvPr id="10" name="Text 8"/>
          <p:cNvSpPr txBox="1"/>
          <p:nvPr/>
        </p:nvSpPr>
        <p:spPr>
          <a:xfrm>
            <a:off x="3867912" y="2660904"/>
            <a:ext cx="7528255" cy="7315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Writes the statutes, appropriates every dollar, overrides vetoes by two-thirds, confirms appointments, and impeaches.</a:t>
            </a:r>
            <a:endParaRPr lang="en-US" sz="1250" dirty="0"/>
          </a:p>
        </p:txBody>
      </p:sp>
      <p:sp>
        <p:nvSpPr>
          <p:cNvPr id="11" name="Shape 9"/>
          <p:cNvSpPr/>
          <p:nvPr/>
        </p:nvSpPr>
        <p:spPr>
          <a:xfrm>
            <a:off x="594360" y="3611880"/>
            <a:ext cx="11002975" cy="1005840"/>
          </a:xfrm>
          <a:prstGeom prst="roundRect">
            <a:avLst>
              <a:gd name="adj" fmla="val 5455"/>
            </a:avLst>
          </a:prstGeom>
          <a:solidFill>
            <a:srgbClr val="FFFFFF"/>
          </a:solidFill>
          <a:ln w="12700">
            <a:solidFill>
              <a:srgbClr val="E0D7C6"/>
            </a:solidFill>
            <a:prstDash val="solid"/>
          </a:ln>
        </p:spPr>
      </p:sp>
      <p:sp>
        <p:nvSpPr>
          <p:cNvPr id="12" name="Shape 10"/>
          <p:cNvSpPr/>
          <p:nvPr/>
        </p:nvSpPr>
        <p:spPr>
          <a:xfrm>
            <a:off x="795528" y="3886200"/>
            <a:ext cx="457200" cy="457200"/>
          </a:xfrm>
          <a:prstGeom prst="ellipse">
            <a:avLst/>
          </a:prstGeom>
          <a:solidFill>
            <a:srgbClr val="B07D2B"/>
          </a:solidFill>
          <a:ln/>
        </p:spPr>
      </p:sp>
      <p:sp>
        <p:nvSpPr>
          <p:cNvPr id="13" name="Text 11"/>
          <p:cNvSpPr txBox="1"/>
          <p:nvPr/>
        </p:nvSpPr>
        <p:spPr>
          <a:xfrm>
            <a:off x="795528" y="388620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1399032" y="3886200"/>
            <a:ext cx="228600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Executive checks</a:t>
            </a:r>
            <a:endParaRPr lang="en-US" sz="1400" dirty="0"/>
          </a:p>
        </p:txBody>
      </p:sp>
      <p:sp>
        <p:nvSpPr>
          <p:cNvPr id="15" name="Text 13"/>
          <p:cNvSpPr txBox="1"/>
          <p:nvPr/>
        </p:nvSpPr>
        <p:spPr>
          <a:xfrm>
            <a:off x="3867912" y="3758184"/>
            <a:ext cx="7528255" cy="7315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Vetoes bills, strikes individual spending items by line-item veto, calls special sessions and sets their agenda, and appoints thousands of officials.</a:t>
            </a:r>
            <a:endParaRPr lang="en-US" sz="1250" dirty="0"/>
          </a:p>
        </p:txBody>
      </p:sp>
      <p:sp>
        <p:nvSpPr>
          <p:cNvPr id="16" name="Shape 14"/>
          <p:cNvSpPr/>
          <p:nvPr/>
        </p:nvSpPr>
        <p:spPr>
          <a:xfrm>
            <a:off x="594360" y="4709160"/>
            <a:ext cx="11002975" cy="1005840"/>
          </a:xfrm>
          <a:prstGeom prst="roundRect">
            <a:avLst>
              <a:gd name="adj" fmla="val 5455"/>
            </a:avLst>
          </a:prstGeom>
          <a:solidFill>
            <a:srgbClr val="FFFFFF"/>
          </a:solidFill>
          <a:ln w="12700">
            <a:solidFill>
              <a:srgbClr val="E0D7C6"/>
            </a:solidFill>
            <a:prstDash val="solid"/>
          </a:ln>
        </p:spPr>
      </p:sp>
      <p:sp>
        <p:nvSpPr>
          <p:cNvPr id="17" name="Shape 15"/>
          <p:cNvSpPr/>
          <p:nvPr/>
        </p:nvSpPr>
        <p:spPr>
          <a:xfrm>
            <a:off x="795528" y="4983480"/>
            <a:ext cx="457200" cy="457200"/>
          </a:xfrm>
          <a:prstGeom prst="ellipse">
            <a:avLst/>
          </a:prstGeom>
          <a:solidFill>
            <a:srgbClr val="98002E"/>
          </a:solidFill>
          <a:ln/>
        </p:spPr>
      </p:sp>
      <p:sp>
        <p:nvSpPr>
          <p:cNvPr id="18" name="Text 16"/>
          <p:cNvSpPr txBox="1"/>
          <p:nvPr/>
        </p:nvSpPr>
        <p:spPr>
          <a:xfrm>
            <a:off x="795528" y="49834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399032" y="4983480"/>
            <a:ext cx="228600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Judiciary checks</a:t>
            </a:r>
            <a:endParaRPr lang="en-US" sz="1400" dirty="0"/>
          </a:p>
        </p:txBody>
      </p:sp>
      <p:sp>
        <p:nvSpPr>
          <p:cNvPr id="20" name="Text 18"/>
          <p:cNvSpPr txBox="1"/>
          <p:nvPr/>
        </p:nvSpPr>
        <p:spPr>
          <a:xfrm>
            <a:off x="3867912" y="4855464"/>
            <a:ext cx="7528255" cy="7315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Strikes down statutes and executive actions that violate the Texas or U.S. Constitution, and interprets what ambiguous statutes mean.</a:t>
            </a:r>
            <a:endParaRPr lang="en-US" sz="1250" dirty="0"/>
          </a:p>
        </p:txBody>
      </p:sp>
      <p:sp>
        <p:nvSpPr>
          <p:cNvPr id="21" name="Shape 19"/>
          <p:cNvSpPr/>
          <p:nvPr/>
        </p:nvSpPr>
        <p:spPr>
          <a:xfrm>
            <a:off x="594360" y="5468112"/>
            <a:ext cx="11002975" cy="896112"/>
          </a:xfrm>
          <a:prstGeom prst="roundRect">
            <a:avLst>
              <a:gd name="adj" fmla="val 7143"/>
            </a:avLst>
          </a:prstGeom>
          <a:solidFill>
            <a:srgbClr val="FFFFFF"/>
          </a:solidFill>
          <a:ln w="19050">
            <a:solidFill>
              <a:srgbClr val="B07D2B"/>
            </a:solidFill>
            <a:prstDash val="solid"/>
          </a:ln>
        </p:spPr>
      </p:sp>
      <p:sp>
        <p:nvSpPr>
          <p:cNvPr id="22" name="Text 20"/>
          <p:cNvSpPr txBox="1"/>
          <p:nvPr/>
        </p:nvSpPr>
        <p:spPr>
          <a:xfrm>
            <a:off x="868680" y="5632704"/>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the clean lines blur</a:t>
            </a:r>
            <a:endParaRPr lang="en-US" sz="1400" dirty="0"/>
          </a:p>
        </p:txBody>
      </p:sp>
      <p:sp>
        <p:nvSpPr>
          <p:cNvPr id="23" name="Text 21"/>
          <p:cNvSpPr txBox="1"/>
          <p:nvPr/>
        </p:nvSpPr>
        <p:spPr>
          <a:xfrm>
            <a:off x="868680" y="5998464"/>
            <a:ext cx="10454335" cy="1828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lieutenant governor is elected as an executive officer yet presides over the Senate and controls its committees and calendar. Article II permits express exceptions, and this is the largest one.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AND THE UNITED STATES COMPARED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constitutions, two philosophies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83080"/>
            <a:ext cx="11002975" cy="457200"/>
          </a:xfrm>
          <a:prstGeom prst="rect">
            <a:avLst/>
          </a:prstGeom>
          <a:solidFill>
            <a:srgbClr val="002B5C"/>
          </a:solidFill>
          <a:ln/>
        </p:spPr>
      </p:sp>
      <p:sp>
        <p:nvSpPr>
          <p:cNvPr id="6" name="Text 4"/>
          <p:cNvSpPr txBox="1"/>
          <p:nvPr/>
        </p:nvSpPr>
        <p:spPr>
          <a:xfrm>
            <a:off x="2971800" y="1856232"/>
            <a:ext cx="384048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United States</a:t>
            </a:r>
            <a:endParaRPr lang="en-US" sz="1300" dirty="0"/>
          </a:p>
        </p:txBody>
      </p:sp>
      <p:sp>
        <p:nvSpPr>
          <p:cNvPr id="7" name="Text 5"/>
          <p:cNvSpPr txBox="1"/>
          <p:nvPr/>
        </p:nvSpPr>
        <p:spPr>
          <a:xfrm>
            <a:off x="7178040" y="1856232"/>
            <a:ext cx="384048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Texas</a:t>
            </a:r>
            <a:endParaRPr lang="en-US" sz="1300" dirty="0"/>
          </a:p>
        </p:txBody>
      </p:sp>
      <p:sp>
        <p:nvSpPr>
          <p:cNvPr id="8" name="Shape 6"/>
          <p:cNvSpPr/>
          <p:nvPr/>
        </p:nvSpPr>
        <p:spPr>
          <a:xfrm>
            <a:off x="594360" y="2240280"/>
            <a:ext cx="11002975" cy="658368"/>
          </a:xfrm>
          <a:prstGeom prst="rect">
            <a:avLst/>
          </a:prstGeom>
          <a:solidFill>
            <a:srgbClr val="FAF7F0"/>
          </a:solidFill>
          <a:ln w="6350">
            <a:solidFill>
              <a:srgbClr val="E0D7C6"/>
            </a:solidFill>
            <a:prstDash val="solid"/>
          </a:ln>
        </p:spPr>
      </p:sp>
      <p:sp>
        <p:nvSpPr>
          <p:cNvPr id="9" name="Text 7"/>
          <p:cNvSpPr txBox="1"/>
          <p:nvPr/>
        </p:nvSpPr>
        <p:spPr>
          <a:xfrm>
            <a:off x="777240" y="2386584"/>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Length</a:t>
            </a:r>
            <a:endParaRPr lang="en-US" sz="1250" dirty="0"/>
          </a:p>
        </p:txBody>
      </p:sp>
      <p:sp>
        <p:nvSpPr>
          <p:cNvPr id="10" name="Text 8"/>
          <p:cNvSpPr txBox="1"/>
          <p:nvPr/>
        </p:nvSpPr>
        <p:spPr>
          <a:xfrm>
            <a:off x="2971800" y="2350008"/>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About 7,500 words</a:t>
            </a:r>
            <a:endParaRPr lang="en-US" sz="1200" dirty="0"/>
          </a:p>
        </p:txBody>
      </p:sp>
      <p:sp>
        <p:nvSpPr>
          <p:cNvPr id="11" name="Text 9"/>
          <p:cNvSpPr txBox="1"/>
          <p:nvPr/>
        </p:nvSpPr>
        <p:spPr>
          <a:xfrm>
            <a:off x="7178040" y="2350008"/>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More than 86,000 words</a:t>
            </a:r>
            <a:endParaRPr lang="en-US" sz="1200" dirty="0"/>
          </a:p>
        </p:txBody>
      </p:sp>
      <p:sp>
        <p:nvSpPr>
          <p:cNvPr id="12" name="Shape 10"/>
          <p:cNvSpPr/>
          <p:nvPr/>
        </p:nvSpPr>
        <p:spPr>
          <a:xfrm>
            <a:off x="594360" y="2898648"/>
            <a:ext cx="11002975" cy="658368"/>
          </a:xfrm>
          <a:prstGeom prst="rect">
            <a:avLst/>
          </a:prstGeom>
          <a:solidFill>
            <a:srgbClr val="FFFFFF"/>
          </a:solidFill>
          <a:ln w="6350">
            <a:solidFill>
              <a:srgbClr val="E0D7C6"/>
            </a:solidFill>
            <a:prstDash val="solid"/>
          </a:ln>
        </p:spPr>
      </p:sp>
      <p:sp>
        <p:nvSpPr>
          <p:cNvPr id="13" name="Text 11"/>
          <p:cNvSpPr txBox="1"/>
          <p:nvPr/>
        </p:nvSpPr>
        <p:spPr>
          <a:xfrm>
            <a:off x="777240" y="3044952"/>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Amendments</a:t>
            </a:r>
            <a:endParaRPr lang="en-US" sz="1250" dirty="0"/>
          </a:p>
        </p:txBody>
      </p:sp>
      <p:sp>
        <p:nvSpPr>
          <p:cNvPr id="14" name="Text 12"/>
          <p:cNvSpPr txBox="1"/>
          <p:nvPr/>
        </p:nvSpPr>
        <p:spPr>
          <a:xfrm>
            <a:off x="2971800" y="3008376"/>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27 in over 230 years</a:t>
            </a:r>
            <a:endParaRPr lang="en-US" sz="1200" dirty="0"/>
          </a:p>
        </p:txBody>
      </p:sp>
      <p:sp>
        <p:nvSpPr>
          <p:cNvPr id="15" name="Text 13"/>
          <p:cNvSpPr txBox="1"/>
          <p:nvPr/>
        </p:nvSpPr>
        <p:spPr>
          <a:xfrm>
            <a:off x="7178040" y="3008376"/>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More than 500 since 1876</a:t>
            </a:r>
            <a:endParaRPr lang="en-US" sz="1200" dirty="0"/>
          </a:p>
        </p:txBody>
      </p:sp>
      <p:sp>
        <p:nvSpPr>
          <p:cNvPr id="16" name="Shape 14"/>
          <p:cNvSpPr/>
          <p:nvPr/>
        </p:nvSpPr>
        <p:spPr>
          <a:xfrm>
            <a:off x="594360" y="3557016"/>
            <a:ext cx="11002975" cy="658368"/>
          </a:xfrm>
          <a:prstGeom prst="rect">
            <a:avLst/>
          </a:prstGeom>
          <a:solidFill>
            <a:srgbClr val="FAF7F0"/>
          </a:solidFill>
          <a:ln w="6350">
            <a:solidFill>
              <a:srgbClr val="E0D7C6"/>
            </a:solidFill>
            <a:prstDash val="solid"/>
          </a:ln>
        </p:spPr>
      </p:sp>
      <p:sp>
        <p:nvSpPr>
          <p:cNvPr id="17" name="Text 15"/>
          <p:cNvSpPr txBox="1"/>
          <p:nvPr/>
        </p:nvSpPr>
        <p:spPr>
          <a:xfrm>
            <a:off x="777240" y="3703320"/>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Approach</a:t>
            </a:r>
            <a:endParaRPr lang="en-US" sz="1250" dirty="0"/>
          </a:p>
        </p:txBody>
      </p:sp>
      <p:sp>
        <p:nvSpPr>
          <p:cNvPr id="18" name="Text 16"/>
          <p:cNvSpPr txBox="1"/>
          <p:nvPr/>
        </p:nvSpPr>
        <p:spPr>
          <a:xfrm>
            <a:off x="2971800" y="3666744"/>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Grants powers broadly, trusts interpretation</a:t>
            </a:r>
            <a:endParaRPr lang="en-US" sz="1200" dirty="0"/>
          </a:p>
        </p:txBody>
      </p:sp>
      <p:sp>
        <p:nvSpPr>
          <p:cNvPr id="19" name="Text 17"/>
          <p:cNvSpPr txBox="1"/>
          <p:nvPr/>
        </p:nvSpPr>
        <p:spPr>
          <a:xfrm>
            <a:off x="7178040" y="3666744"/>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Restricts in detail, trusts almost no one</a:t>
            </a:r>
            <a:endParaRPr lang="en-US" sz="1200" dirty="0"/>
          </a:p>
        </p:txBody>
      </p:sp>
      <p:sp>
        <p:nvSpPr>
          <p:cNvPr id="20" name="Shape 18"/>
          <p:cNvSpPr/>
          <p:nvPr/>
        </p:nvSpPr>
        <p:spPr>
          <a:xfrm>
            <a:off x="594360" y="4215384"/>
            <a:ext cx="11002975" cy="658368"/>
          </a:xfrm>
          <a:prstGeom prst="rect">
            <a:avLst/>
          </a:prstGeom>
          <a:solidFill>
            <a:srgbClr val="FFFFFF"/>
          </a:solidFill>
          <a:ln w="6350">
            <a:solidFill>
              <a:srgbClr val="E0D7C6"/>
            </a:solidFill>
            <a:prstDash val="solid"/>
          </a:ln>
        </p:spPr>
      </p:sp>
      <p:sp>
        <p:nvSpPr>
          <p:cNvPr id="21" name="Text 19"/>
          <p:cNvSpPr txBox="1"/>
          <p:nvPr/>
        </p:nvSpPr>
        <p:spPr>
          <a:xfrm>
            <a:off x="777240" y="4361688"/>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Bill of Rights</a:t>
            </a:r>
            <a:endParaRPr lang="en-US" sz="1250" dirty="0"/>
          </a:p>
        </p:txBody>
      </p:sp>
      <p:sp>
        <p:nvSpPr>
          <p:cNvPr id="22" name="Text 20"/>
          <p:cNvSpPr txBox="1"/>
          <p:nvPr/>
        </p:nvSpPr>
        <p:spPr>
          <a:xfrm>
            <a:off x="2971800" y="4325112"/>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Added afterward as ten amendments</a:t>
            </a:r>
            <a:endParaRPr lang="en-US" sz="1200" dirty="0"/>
          </a:p>
        </p:txBody>
      </p:sp>
      <p:sp>
        <p:nvSpPr>
          <p:cNvPr id="23" name="Text 21"/>
          <p:cNvSpPr txBox="1"/>
          <p:nvPr/>
        </p:nvSpPr>
        <p:spPr>
          <a:xfrm>
            <a:off x="7178040" y="4325112"/>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Article I, placed first, before any power</a:t>
            </a:r>
            <a:endParaRPr lang="en-US" sz="1200" dirty="0"/>
          </a:p>
        </p:txBody>
      </p:sp>
      <p:sp>
        <p:nvSpPr>
          <p:cNvPr id="24" name="Shape 22"/>
          <p:cNvSpPr/>
          <p:nvPr/>
        </p:nvSpPr>
        <p:spPr>
          <a:xfrm>
            <a:off x="594360" y="4873752"/>
            <a:ext cx="11002975" cy="658368"/>
          </a:xfrm>
          <a:prstGeom prst="rect">
            <a:avLst/>
          </a:prstGeom>
          <a:solidFill>
            <a:srgbClr val="FAF7F0"/>
          </a:solidFill>
          <a:ln w="6350">
            <a:solidFill>
              <a:srgbClr val="E0D7C6"/>
            </a:solidFill>
            <a:prstDash val="solid"/>
          </a:ln>
        </p:spPr>
      </p:sp>
      <p:sp>
        <p:nvSpPr>
          <p:cNvPr id="25" name="Text 23"/>
          <p:cNvSpPr txBox="1"/>
          <p:nvPr/>
        </p:nvSpPr>
        <p:spPr>
          <a:xfrm>
            <a:off x="777240" y="5020056"/>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Executive</a:t>
            </a:r>
            <a:endParaRPr lang="en-US" sz="1250" dirty="0"/>
          </a:p>
        </p:txBody>
      </p:sp>
      <p:sp>
        <p:nvSpPr>
          <p:cNvPr id="26" name="Text 24"/>
          <p:cNvSpPr txBox="1"/>
          <p:nvPr/>
        </p:nvSpPr>
        <p:spPr>
          <a:xfrm>
            <a:off x="2971800" y="4983480"/>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One president who appoints the cabinet</a:t>
            </a:r>
            <a:endParaRPr lang="en-US" sz="1200" dirty="0"/>
          </a:p>
        </p:txBody>
      </p:sp>
      <p:sp>
        <p:nvSpPr>
          <p:cNvPr id="27" name="Text 25"/>
          <p:cNvSpPr txBox="1"/>
          <p:nvPr/>
        </p:nvSpPr>
        <p:spPr>
          <a:xfrm>
            <a:off x="7178040" y="4983480"/>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Plural executive of separately elected officials</a:t>
            </a:r>
            <a:endParaRPr lang="en-US" sz="1200" dirty="0"/>
          </a:p>
        </p:txBody>
      </p:sp>
      <p:sp>
        <p:nvSpPr>
          <p:cNvPr id="28" name="Shape 26"/>
          <p:cNvSpPr/>
          <p:nvPr/>
        </p:nvSpPr>
        <p:spPr>
          <a:xfrm>
            <a:off x="594360" y="5532120"/>
            <a:ext cx="11002975" cy="658368"/>
          </a:xfrm>
          <a:prstGeom prst="rect">
            <a:avLst/>
          </a:prstGeom>
          <a:solidFill>
            <a:srgbClr val="FFFFFF"/>
          </a:solidFill>
          <a:ln w="6350">
            <a:solidFill>
              <a:srgbClr val="E0D7C6"/>
            </a:solidFill>
            <a:prstDash val="solid"/>
          </a:ln>
        </p:spPr>
      </p:sp>
      <p:sp>
        <p:nvSpPr>
          <p:cNvPr id="29" name="Text 27"/>
          <p:cNvSpPr txBox="1"/>
          <p:nvPr/>
        </p:nvSpPr>
        <p:spPr>
          <a:xfrm>
            <a:off x="777240" y="5678424"/>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Judges</a:t>
            </a:r>
            <a:endParaRPr lang="en-US" sz="1250" dirty="0"/>
          </a:p>
        </p:txBody>
      </p:sp>
      <p:sp>
        <p:nvSpPr>
          <p:cNvPr id="30" name="Text 28"/>
          <p:cNvSpPr txBox="1"/>
          <p:nvPr/>
        </p:nvSpPr>
        <p:spPr>
          <a:xfrm>
            <a:off x="2971800" y="5641848"/>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Appointed for life</a:t>
            </a:r>
            <a:endParaRPr lang="en-US" sz="1200" dirty="0"/>
          </a:p>
        </p:txBody>
      </p:sp>
      <p:sp>
        <p:nvSpPr>
          <p:cNvPr id="31" name="Text 29"/>
          <p:cNvSpPr txBox="1"/>
          <p:nvPr/>
        </p:nvSpPr>
        <p:spPr>
          <a:xfrm>
            <a:off x="7178040" y="5641848"/>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Elected in partisan elections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Design choices and their costs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1876 framers built a government designed to be weak. What problems does a weak state government handle badly, and is that an acceptable price for the protection it offers?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requires a constitutional amendment for changes other states make by statute, and amendment elections draw very low turnout. Who actually decides in that system?</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Would you rather live under a constitution that grants power broadly and trusts interpretation, or one that restricts in detail and trusts almost no one? What does your answer assume?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2 in the Trailblazer Trek: 6 sections, 1,620 points, including the new separation of powers section.</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The Section 6 prompt asks students to weigh protection against accountability in the Texas design.</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1 (origin and development of the Texas constitution) and Outcome 3 (separation of powers and checks and balances) are both primary.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DOCUMENT ITSELF</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full text with all amendments, at statutes.capitol.texas.gov. Article I is short and written for citizens rather than lawyers.</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CONSTITUTIONAL HISTORY</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the Constitutional Convention of 1875, the constitutions of 1861, 1866, and 1869, and E. J. Davis.</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AMENDMENTS</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Legislative Council publishes an analysis of every proposed amendment before each election, written in plain language.</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COMPARISON</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National Conference of State Legislatures maintains comparative data on state constitutions, length, and amendment rates.</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the base text this module adapts.</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is the cost of a government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built to be weak?”</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Texans have been paying it, and collecting on it, since 1876. Every chapter that follows is a payment or a collection.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The Texas Constitution</dc:title>
  <dc:subject>PptxGenJS Presentation</dc:subject>
  <dc:creator>Tarrant County College</dc:creator>
  <cp:lastModifiedBy>Tarrant County College</cp:lastModifiedBy>
  <cp:revision>1</cp:revision>
  <dcterms:created xsi:type="dcterms:W3CDTF">2026-09-14T01:48:56Z</dcterms:created>
  <dcterms:modified xsi:type="dcterms:W3CDTF">2026-09-14T01:48:56Z</dcterms:modified>
</cp:coreProperties>
</file>