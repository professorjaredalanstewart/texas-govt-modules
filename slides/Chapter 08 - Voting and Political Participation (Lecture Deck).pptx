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8: VOTING AND POLITICAL PARTICIPATION
About 75 minutes with all three discussion pauses.
OPENING (3 min). Ask for a show of hands, no judgment attached: who voted in the
last presidential election? Then the last midterm. Then the last city or school
board election. The hands drop steadily.
Then say plainly that this is normal. Texas turnout is among the lowest in the
country, and the pattern in this room matches the state.
THE FRAME: this chapter holds two facts that sit uneasily together. Texans died
to win the vote, and most Texans do not use it. Do not resolve that tension
early. Let the chapter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THIS CHAPTER CARRIES REAL POLITICAL CHARGE. Voter identification and SB 1 are
argued sincerely from both directions, and your room contains students who have
been told opposite things about both.
The approach throughout: state what the law requires, state what each side
argues, cite what courts have found, and let students weigh it. Do not referee.
The registration and turnout material is factual and uncontroversial, and it is
where most of the learning happens. Protect that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#1 and #4. Objective 1 is the practically useful one, and many students
in the room are not registered. Objective 4 is the analytical core.
Objective 3 carries the civil rights history that also appears in Chapter 16.
If you teach both, cross-reference them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most practically useful slide in the course.
TREAT THIS AS SERVICE, NOT JUST CONTENT. Some students in the room are not
registered, and several will turn 18 this term. The 17 years and 10 months rule
means a student can register before their birthday, which almost nobody knows.
TEXAS IS AN OUTLIER ON THREE COUNTS worth stating neutrally: no same-day
registration, no automatic registration, and no full online registration. More
than forty states offer online registration, and about half offer same-day or
automatic registration; only a handful of states offer none of the three. That
is a factual comparison, not an argument.
If a student registered through the DPS website, have them confirm at
VoteTexas.gov; in 2026 DPS failed to forward an unknown number of those
applications to the counties.
THE ELECTION IDENTIFICATION CERTIFICATE is genuinely underused and both sides of
the ID debate say so. Supporters of ID laws want it publicized because it answers
the access objection. Critics want it publicized because it helps voters. Tell
students it is free at DPS.
Have the registration deadline for your next election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POINT STUDENTS MISS: Texans are asked to vote far more often than citizens of
most democracies, because of primaries, runoffs, amendment elections, and local
elections on separate dates. Frequent elections spread turnout thin.
ASK: "Which of these elections decides the most about your daily life?" The
answer is usually the ones with the lowest turnout, local and amendment
elections. That inversion is the chapter's recurring theme.
THE OPEN PRIMARY IS WORTH A MOMENT. Texans do not register by party. You choose
at the polls which primary to vote in, and you may vote in only one per cycle.
Students often think Texas has party registration. It does not.
EARLY VOTING IS GENUINELY CONVENIENT and worth naming, because students often
assume Texas offers nothing. The dispute in the next slides is about specific
provisions, not about early voting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WHITE PRIMARY IS THE MECHANISM TO EXPLAIN CAREFULLY. In a one-party state the
Democratic primary decided every office. The November election was a formality.
Excluding Black voters from the primary excluded them from the only contest that
mattered, while technically leaving them the vote. That is a sophisticated form
of disenfranchisement and students should see how it worked.
SMITH V. ALLWRIGHT connects directly to Chapter 16. Same case, different frame:
here it is voting rights, there it is equal protection. Cross-reference it.
TEXAS WAS NOT COVERED IN 1965; it was added in 1975 because of discrimination
against Mexican American voters. That is why Shelby County mattered so much here.
SHELBY COUNTY IS THE PIVOT to the modern debate. Say what it did in neutral
terms: it struck down the formula determining which jurisdictions needed federal
approval before changing election law. Supporters called the formula outdated.
Critics said removing it invited restrictive changes. Both reactions were
immediate and sincere.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Q1 IS THE BEST CHOICE and it is deliberately framed around evidence rather than
allegiance. Push students toward specifics: what data would show a rule burdens
voters? What data would show fraud it prevents? Both are empirical questions with
real, contested literatures.
Q2 is the sharpest analytical question in the chapter. The white primary's stated
purpose was party autonomy; its effect was exclusion. Students who grasp the
purpose-versus-effect distinction can analyze any election law, including ones
they favor.
DO NOT LET Q1 become a partisan sorting exercise. If it drifts, return to the
question: what evidence would change your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Candidate to compress in a 50 minute class.
LEAD WITH THE ARITHMETIC. A Texas general election ballot can carry forty or more
races. Researching each one properly would take hours. Nobody does it. That is
not apathy, it is arithmetic.
DEFEND HEURISTICS BEFORE CRITIQUING THEM. Party label is genuinely informative
about how someone will vote on most issues. Incumbency tells you someone has done
the job. These shortcuts carry real information.
THEN MAKE THE CRITIQUE: some shortcuts track governing behavior and some do not.
Ballot order, name familiarity, and how a name sounds all measurably move votes in
low-information races. Texas judicial races are the classic example, which
connects back to Chapter 6.
GOOD IN-CLASS MOMENT: ask how students voted in judicial or county races, or
would. Most admit party label or skipping. That honesty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TEACH THE MEASUREMENT POINT FIRST, because it is where careless analysis goes
wrong. Turnout as a share of total population makes Texas look worse than turnout
as a share of the voting-eligible population, because Texas has a large noncitizen
population. Honest comparisons use the voting-eligible population. Say this
plainly; it is a methods lesson that transfers.
THE EFFICACY POINT DESERVES RESPECT, not scolding. A voter in a statewide race
decided by double digits who concludes their vote will not change the outcome is
reasoning correctly about that race. The counterargument is that primaries and
local races are frequently close, and those are exactly the ones people skip.
DO NOT MORALIZE. Students who do not vote are in the room. The productive framing
is structural: these are the causes, here is what would change them, here is what
each change would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with discussion. The most contested slide in the chapter.
CHECK CURRENCY BEFORE CLASS. As of October 2026 the Fifth Circuit had reversed
every lower-court ruling against SB 1 and the law is in force; plaintiffs could
still bring as-applied challenges.
DO NOT REFEREE. Both columns contain claims supported by evidence. The mail
ballot rejection increase is documented. The rarity of prosecuted in-person fraud
is documented. Whether the trade is worth it is a value judgment about how to
weigh access against confidence, and reasonable Texans weigh it differently.
A USEFUL ANALYTICAL MOVE: ask what each side would accept as evidence they were
wrong. Students who can answer that for their own position are doing real
thinking. Students who cannot have discovered something about themselves.
IF A STUDENT ASKS YOUR VIEW: "My job is to make sure you can argue either side
well enough that the other side would recognize itself. Then you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PRESENT THESE AS OPTIONS WITH TRADE-OFFS, not as a reform agenda. Each has real
objections, and the closing line names them.
THE MOST INTERESTING ONE FOR DISCUSSION is consolidated election dates, because
it scrambles the usual alignment. Moving school board elections to November would
raise turnout substantially. It would also bury those races at the bottom of a
very long ballot and let national politics drive local outcomes. People who want
higher turnout and people who want informed local voting end up on opposite
sides.
COMPULSORY VOTING is worth thirty seconds because it clarifies what students
actually value. Ask: "Would you accept a small fine for not voting?" The room
usually splits hard, and the objection is about liberty rather than turnout,
which is a useful thing to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MOST EMPOWERING SLIDE IN THE CHAPTER. Students who feel their vote does not
matter statewide can still see channels where a single person measurably counts.
PUBLIC TESTIMONY IS THE UNDERUSED ONE. Anyone can sign up and speak at a Texas
legislative committee hearing. Most students have no idea this is open to them
without an invitation or a lawyer.
THE UNOPPOSED RACE POINT IS THE STRONGEST CLOSING ARGUMENT. Ask students to look
up their last local ballot and count how many races had one candidate. In many
Texas jurisdictions it is most of them. A seat with taxing authority filled by
default is a democratic failure that no voter turnout campaign can fix.
PAIRS DIRECTLY with Texas In Action activities if you assign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Q1 IS THE BEST SINGLE CHOICE because it takes non-voters seriously rather than
lecturing them. The honest answer: in that specific race they are right, and the
strongest counterarguments are that primaries and local races are often close,
that margins themselves carry information, and that the habit of voting is what
makes future competitiveness possible.
Q3 is the sleeper and the most original. Turnout campaigns assume the problem is
voters. Uncontested races mean the problem is candidates. Ask what stops people
from running: time, money, visibility, and the fact that most people do not know
these seats exist.
Do not let Q2 become scolding. Design contributes as much as citizenship.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THE HIGHEST-VALUE THING YOU CAN DO in this chapter takes five minutes: put the
registration deadline for the next election on the screen and tell students where
to get a form. Several will act on it.
A GOOD ASSIGNMENT: have students look up their own county's turnout in the last
local election and compare it to the last presidential election. The gap is
usually startling and it is public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so students can photograph it.
THE UNITED STATES ELECTIONS PROJECT is the source to trust for turnout
comparisons because it uses the voting-eligible population rather than raw
population. Using the wrong denominator is the most common error in public
arguments about Texas turnout,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 inversion is the takeaway. Attention flows to presidential races, which are
least likely to be decided by any individual vote and least likely to change a
student's daily life. The races that set property tax rates, run schools, and
decide who prosecutes crimes draw a fraction of the turnout.
Good exit ticket: "Name the next election you are eligible to vote in, the
registration deadline, and one office on that ballot."
Preview Chapter 9: now that we know who votes and why, the next question is how
candidates reach them, and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8</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Voting and</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Participation</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Texas fought for a century to open the ballot. Then it became one of the states least likely to use it.</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cut the decision-making slide and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or delete freely.</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Election law is contested</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Voter ID and SB 1 are argued in good faith on both sides. The notes give you both cases and tell you not to referee.</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8's eight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to register and vote in Texas and what the law requires.</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Identify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kinds of elections Texans vote in and how often.</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Trace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long struggle to open the ballot in Texas.</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why Texas turnout is persistently low.</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forms of participation beyond voting.</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REGISTRATION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Texas requires before you vote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8_voter_registration.jpg">    </p:cNvPr>
          <p:cNvPicPr>
            <a:picLocks noChangeAspect="1"/>
          </p:cNvPicPr>
          <p:nvPr/>
        </p:nvPicPr>
        <p:blipFill>
          <a:blip r:embed="rId1"/>
          <a:stretch>
            <a:fillRect/>
          </a:stretch>
        </p:blipFill>
        <p:spPr>
          <a:xfrm>
            <a:off x="7772400" y="1783080"/>
            <a:ext cx="3840480" cy="2148840"/>
          </a:xfrm>
          <a:prstGeom prst="rect">
            <a:avLst/>
          </a:prstGeom>
        </p:spPr>
      </p:pic>
      <p:sp>
        <p:nvSpPr>
          <p:cNvPr id="6" name="Text 3"/>
          <p:cNvSpPr txBox="1"/>
          <p:nvPr/>
        </p:nvSpPr>
        <p:spPr>
          <a:xfrm>
            <a:off x="594360" y="1783080"/>
            <a:ext cx="1783080" cy="292608"/>
          </a:xfrm>
          <a:prstGeom prst="rect">
            <a:avLst/>
          </a:prstGeom>
          <a:noFill/>
          <a:ln/>
        </p:spPr>
        <p:txBody>
          <a:bodyPr wrap="square" lIns="0" tIns="0" rIns="0" bIns="0" rtlCol="0" anchor="t"/>
          <a:lstStyle/>
          <a:p>
            <a:pPr indent="0" marL="0">
              <a:lnSpc>
                <a:spcPts val="1600"/>
              </a:lnSpc>
              <a:buNone/>
            </a:pPr>
            <a:r>
              <a:rPr lang="en-US" sz="1300" b="1" dirty="0">
                <a:solidFill>
                  <a:srgbClr val="B07D2B"/>
                </a:solidFill>
                <a:latin typeface="Calibri" pitchFamily="34" charset="0"/>
                <a:ea typeface="Calibri" pitchFamily="34" charset="-122"/>
                <a:cs typeface="Calibri" pitchFamily="34" charset="-120"/>
              </a:rPr>
              <a:t>Who may register</a:t>
            </a:r>
            <a:endParaRPr lang="en-US" sz="1300" dirty="0"/>
          </a:p>
        </p:txBody>
      </p:sp>
      <p:sp>
        <p:nvSpPr>
          <p:cNvPr id="7" name="Text 4"/>
          <p:cNvSpPr txBox="1"/>
          <p:nvPr/>
        </p:nvSpPr>
        <p:spPr>
          <a:xfrm>
            <a:off x="2468880" y="1783080"/>
            <a:ext cx="5257800" cy="96012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 United States citizen, a resident of the county, at least 17 years and 10 months old, not finally convicted of a felony unless the sentence is fully completed, and not declared mentally incapacitated by a court.</a:t>
            </a:r>
            <a:endParaRPr lang="en-US" sz="1250" dirty="0"/>
          </a:p>
        </p:txBody>
      </p:sp>
      <p:sp>
        <p:nvSpPr>
          <p:cNvPr id="8" name="Text 5"/>
          <p:cNvSpPr txBox="1"/>
          <p:nvPr/>
        </p:nvSpPr>
        <p:spPr>
          <a:xfrm>
            <a:off x="594360" y="2743200"/>
            <a:ext cx="1783080" cy="292608"/>
          </a:xfrm>
          <a:prstGeom prst="rect">
            <a:avLst/>
          </a:prstGeom>
          <a:noFill/>
          <a:ln/>
        </p:spPr>
        <p:txBody>
          <a:bodyPr wrap="square" lIns="0" tIns="0" rIns="0" bIns="0" rtlCol="0" anchor="t"/>
          <a:lstStyle/>
          <a:p>
            <a:pPr indent="0" marL="0">
              <a:lnSpc>
                <a:spcPts val="1600"/>
              </a:lnSpc>
              <a:buNone/>
            </a:pPr>
            <a:r>
              <a:rPr lang="en-US" sz="1300" b="1" dirty="0">
                <a:solidFill>
                  <a:srgbClr val="B07D2B"/>
                </a:solidFill>
                <a:latin typeface="Calibri" pitchFamily="34" charset="0"/>
                <a:ea typeface="Calibri" pitchFamily="34" charset="-122"/>
                <a:cs typeface="Calibri" pitchFamily="34" charset="-120"/>
              </a:rPr>
              <a:t>The deadline</a:t>
            </a:r>
            <a:endParaRPr lang="en-US" sz="1300" dirty="0"/>
          </a:p>
        </p:txBody>
      </p:sp>
      <p:sp>
        <p:nvSpPr>
          <p:cNvPr id="9" name="Text 6"/>
          <p:cNvSpPr txBox="1"/>
          <p:nvPr/>
        </p:nvSpPr>
        <p:spPr>
          <a:xfrm>
            <a:off x="2468880" y="2743200"/>
            <a:ext cx="5257800" cy="96012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Thirty days before the election. Texas has no same-day registration and no automatic registration.</a:t>
            </a:r>
            <a:endParaRPr lang="en-US" sz="1250" dirty="0"/>
          </a:p>
        </p:txBody>
      </p:sp>
      <p:sp>
        <p:nvSpPr>
          <p:cNvPr id="10" name="Text 7"/>
          <p:cNvSpPr txBox="1"/>
          <p:nvPr/>
        </p:nvSpPr>
        <p:spPr>
          <a:xfrm>
            <a:off x="594360" y="3703320"/>
            <a:ext cx="1783080" cy="292608"/>
          </a:xfrm>
          <a:prstGeom prst="rect">
            <a:avLst/>
          </a:prstGeom>
          <a:noFill/>
          <a:ln/>
        </p:spPr>
        <p:txBody>
          <a:bodyPr wrap="square" lIns="0" tIns="0" rIns="0" bIns="0" rtlCol="0" anchor="t"/>
          <a:lstStyle/>
          <a:p>
            <a:pPr indent="0" marL="0">
              <a:lnSpc>
                <a:spcPts val="1600"/>
              </a:lnSpc>
              <a:buNone/>
            </a:pPr>
            <a:r>
              <a:rPr lang="en-US" sz="1300" b="1" dirty="0">
                <a:solidFill>
                  <a:srgbClr val="B07D2B"/>
                </a:solidFill>
                <a:latin typeface="Calibri" pitchFamily="34" charset="0"/>
                <a:ea typeface="Calibri" pitchFamily="34" charset="-122"/>
                <a:cs typeface="Calibri" pitchFamily="34" charset="-120"/>
              </a:rPr>
              <a:t>How</a:t>
            </a:r>
            <a:endParaRPr lang="en-US" sz="1300" dirty="0"/>
          </a:p>
        </p:txBody>
      </p:sp>
      <p:sp>
        <p:nvSpPr>
          <p:cNvPr id="11" name="Text 8"/>
          <p:cNvSpPr txBox="1"/>
          <p:nvPr/>
        </p:nvSpPr>
        <p:spPr>
          <a:xfrm>
            <a:off x="2468880" y="3703320"/>
            <a:ext cx="5257800" cy="96012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Paper application by mail or in person, or online only as part of a driver license renewal or address change at DPS. Texas has no stand-alone online registration.</a:t>
            </a:r>
            <a:endParaRPr lang="en-US" sz="1250" dirty="0"/>
          </a:p>
        </p:txBody>
      </p:sp>
      <p:sp>
        <p:nvSpPr>
          <p:cNvPr id="12" name="Text 9"/>
          <p:cNvSpPr txBox="1"/>
          <p:nvPr/>
        </p:nvSpPr>
        <p:spPr>
          <a:xfrm>
            <a:off x="594360" y="4663440"/>
            <a:ext cx="1783080" cy="292608"/>
          </a:xfrm>
          <a:prstGeom prst="rect">
            <a:avLst/>
          </a:prstGeom>
          <a:noFill/>
          <a:ln/>
        </p:spPr>
        <p:txBody>
          <a:bodyPr wrap="square" lIns="0" tIns="0" rIns="0" bIns="0" rtlCol="0" anchor="t"/>
          <a:lstStyle/>
          <a:p>
            <a:pPr indent="0" marL="0">
              <a:lnSpc>
                <a:spcPts val="1600"/>
              </a:lnSpc>
              <a:buNone/>
            </a:pPr>
            <a:r>
              <a:rPr lang="en-US" sz="1300" b="1" dirty="0">
                <a:solidFill>
                  <a:srgbClr val="B07D2B"/>
                </a:solidFill>
                <a:latin typeface="Calibri" pitchFamily="34" charset="0"/>
                <a:ea typeface="Calibri" pitchFamily="34" charset="-122"/>
                <a:cs typeface="Calibri" pitchFamily="34" charset="-120"/>
              </a:rPr>
              <a:t>At the polls</a:t>
            </a:r>
            <a:endParaRPr lang="en-US" sz="1300" dirty="0"/>
          </a:p>
        </p:txBody>
      </p:sp>
      <p:sp>
        <p:nvSpPr>
          <p:cNvPr id="13" name="Text 10"/>
          <p:cNvSpPr txBox="1"/>
          <p:nvPr/>
        </p:nvSpPr>
        <p:spPr>
          <a:xfrm>
            <a:off x="2468880" y="4663440"/>
            <a:ext cx="5257800" cy="96012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One of seven accepted photo IDs. Voters who cannot reasonably obtain one may sign a declaration and present an alternative document.</a:t>
            </a:r>
            <a:endParaRPr lang="en-US" sz="1250" dirty="0"/>
          </a:p>
        </p:txBody>
      </p:sp>
      <p:sp>
        <p:nvSpPr>
          <p:cNvPr id="14" name="Shape 11"/>
          <p:cNvSpPr/>
          <p:nvPr/>
        </p:nvSpPr>
        <p:spPr>
          <a:xfrm>
            <a:off x="594360" y="5696712"/>
            <a:ext cx="11002975" cy="749808"/>
          </a:xfrm>
          <a:prstGeom prst="roundRect">
            <a:avLst>
              <a:gd name="adj" fmla="val 8537"/>
            </a:avLst>
          </a:prstGeom>
          <a:solidFill>
            <a:srgbClr val="FFFFFF"/>
          </a:solidFill>
          <a:ln w="19050">
            <a:solidFill>
              <a:srgbClr val="B07D2B"/>
            </a:solidFill>
            <a:prstDash val="solid"/>
          </a:ln>
        </p:spPr>
      </p:sp>
      <p:sp>
        <p:nvSpPr>
          <p:cNvPr id="15" name="Text 12"/>
          <p:cNvSpPr txBox="1"/>
          <p:nvPr/>
        </p:nvSpPr>
        <p:spPr>
          <a:xfrm>
            <a:off x="868680" y="5861304"/>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 free ID exists, and few people know it</a:t>
            </a:r>
            <a:endParaRPr lang="en-US" sz="1400" dirty="0"/>
          </a:p>
        </p:txBody>
      </p:sp>
      <p:sp>
        <p:nvSpPr>
          <p:cNvPr id="16" name="Text 13"/>
          <p:cNvSpPr txBox="1"/>
          <p:nvPr/>
        </p:nvSpPr>
        <p:spPr>
          <a:xfrm>
            <a:off x="868680" y="6227064"/>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Texans who lack an accepted photo ID can obtain an Election Identification Certificate at no cost from the Department of Public Safety. Both sides of the ID debate agree it is underused. Tell your students it exists.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TYPES OF ELECTIONS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Texans vote more often than almost anyone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8_primary_election.jpg">    </p:cNvPr>
          <p:cNvPicPr>
            <a:picLocks noChangeAspect="1"/>
          </p:cNvPicPr>
          <p:nvPr/>
        </p:nvPicPr>
        <p:blipFill>
          <a:blip r:embed="rId1"/>
          <a:stretch>
            <a:fillRect/>
          </a:stretch>
        </p:blipFill>
        <p:spPr>
          <a:xfrm>
            <a:off x="7772400" y="1783080"/>
            <a:ext cx="3840480" cy="2103120"/>
          </a:xfrm>
          <a:prstGeom prst="rect">
            <a:avLst/>
          </a:prstGeom>
        </p:spPr>
      </p:pic>
      <p:sp>
        <p:nvSpPr>
          <p:cNvPr id="6" name="Text 3"/>
          <p:cNvSpPr txBox="1"/>
          <p:nvPr/>
        </p:nvSpPr>
        <p:spPr>
          <a:xfrm>
            <a:off x="594360" y="178308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Primary</a:t>
            </a:r>
            <a:endParaRPr lang="en-US" sz="1250" dirty="0"/>
          </a:p>
        </p:txBody>
      </p:sp>
      <p:sp>
        <p:nvSpPr>
          <p:cNvPr id="7" name="Text 4"/>
          <p:cNvSpPr txBox="1"/>
          <p:nvPr/>
        </p:nvSpPr>
        <p:spPr>
          <a:xfrm>
            <a:off x="2606040" y="1783080"/>
            <a:ext cx="5120640"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March of even years. Parties choose nominees. Texas uses an open primary, so any registered voter may participate in one party's contest.</a:t>
            </a:r>
            <a:endParaRPr lang="en-US" sz="1200" dirty="0"/>
          </a:p>
        </p:txBody>
      </p:sp>
      <p:sp>
        <p:nvSpPr>
          <p:cNvPr id="8" name="Text 5"/>
          <p:cNvSpPr txBox="1"/>
          <p:nvPr/>
        </p:nvSpPr>
        <p:spPr>
          <a:xfrm>
            <a:off x="594360" y="242316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Runoff</a:t>
            </a:r>
            <a:endParaRPr lang="en-US" sz="1250" dirty="0"/>
          </a:p>
        </p:txBody>
      </p:sp>
      <p:sp>
        <p:nvSpPr>
          <p:cNvPr id="9" name="Text 6"/>
          <p:cNvSpPr txBox="1"/>
          <p:nvPr/>
        </p:nvSpPr>
        <p:spPr>
          <a:xfrm>
            <a:off x="2606040" y="2423160"/>
            <a:ext cx="5120640"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May, when no primary candidate wins a majority. Turnout is typically a fraction of the primary.</a:t>
            </a:r>
            <a:endParaRPr lang="en-US" sz="1200" dirty="0"/>
          </a:p>
        </p:txBody>
      </p:sp>
      <p:sp>
        <p:nvSpPr>
          <p:cNvPr id="10" name="Text 7"/>
          <p:cNvSpPr txBox="1"/>
          <p:nvPr/>
        </p:nvSpPr>
        <p:spPr>
          <a:xfrm>
            <a:off x="594360" y="306324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General</a:t>
            </a:r>
            <a:endParaRPr lang="en-US" sz="1250" dirty="0"/>
          </a:p>
        </p:txBody>
      </p:sp>
      <p:sp>
        <p:nvSpPr>
          <p:cNvPr id="11" name="Text 8"/>
          <p:cNvSpPr txBox="1"/>
          <p:nvPr/>
        </p:nvSpPr>
        <p:spPr>
          <a:xfrm>
            <a:off x="2606040" y="3063240"/>
            <a:ext cx="5120640"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November of even years. Fills offices. The highest turnout election.</a:t>
            </a:r>
            <a:endParaRPr lang="en-US" sz="1200" dirty="0"/>
          </a:p>
        </p:txBody>
      </p:sp>
      <p:sp>
        <p:nvSpPr>
          <p:cNvPr id="12" name="Text 9"/>
          <p:cNvSpPr txBox="1"/>
          <p:nvPr/>
        </p:nvSpPr>
        <p:spPr>
          <a:xfrm>
            <a:off x="594360" y="370332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Constitutional amendment</a:t>
            </a:r>
            <a:endParaRPr lang="en-US" sz="1250" dirty="0"/>
          </a:p>
        </p:txBody>
      </p:sp>
      <p:sp>
        <p:nvSpPr>
          <p:cNvPr id="13" name="Text 10"/>
          <p:cNvSpPr txBox="1"/>
          <p:nvPr/>
        </p:nvSpPr>
        <p:spPr>
          <a:xfrm>
            <a:off x="2606040" y="3703320"/>
            <a:ext cx="5120640"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November of odd years. Voters rewrite the Texas Constitution with very low turnout.</a:t>
            </a:r>
            <a:endParaRPr lang="en-US" sz="1200" dirty="0"/>
          </a:p>
        </p:txBody>
      </p:sp>
      <p:sp>
        <p:nvSpPr>
          <p:cNvPr id="14" name="Text 11"/>
          <p:cNvSpPr txBox="1"/>
          <p:nvPr/>
        </p:nvSpPr>
        <p:spPr>
          <a:xfrm>
            <a:off x="594360" y="434340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Local</a:t>
            </a:r>
            <a:endParaRPr lang="en-US" sz="1250" dirty="0"/>
          </a:p>
        </p:txBody>
      </p:sp>
      <p:sp>
        <p:nvSpPr>
          <p:cNvPr id="15" name="Text 12"/>
          <p:cNvSpPr txBox="1"/>
          <p:nvPr/>
        </p:nvSpPr>
        <p:spPr>
          <a:xfrm>
            <a:off x="2606040" y="4343400"/>
            <a:ext cx="5120640"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Often May, on their own dates. City, school board, and special district seats.</a:t>
            </a:r>
            <a:endParaRPr lang="en-US" sz="1200" dirty="0"/>
          </a:p>
        </p:txBody>
      </p:sp>
      <p:sp>
        <p:nvSpPr>
          <p:cNvPr id="16" name="Text 13"/>
          <p:cNvSpPr txBox="1"/>
          <p:nvPr/>
        </p:nvSpPr>
        <p:spPr>
          <a:xfrm>
            <a:off x="594360" y="498348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Special</a:t>
            </a:r>
            <a:endParaRPr lang="en-US" sz="1250" dirty="0"/>
          </a:p>
        </p:txBody>
      </p:sp>
      <p:sp>
        <p:nvSpPr>
          <p:cNvPr id="17" name="Text 14"/>
          <p:cNvSpPr txBox="1"/>
          <p:nvPr/>
        </p:nvSpPr>
        <p:spPr>
          <a:xfrm>
            <a:off x="2606040" y="4983480"/>
            <a:ext cx="5120640"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Whenever a vacancy occurs or a specific measure requires a vote.</a:t>
            </a:r>
            <a:endParaRPr lang="en-US" sz="1200" dirty="0"/>
          </a:p>
        </p:txBody>
      </p:sp>
      <p:sp>
        <p:nvSpPr>
          <p:cNvPr id="18" name="Shape 15"/>
          <p:cNvSpPr/>
          <p:nvPr/>
        </p:nvSpPr>
        <p:spPr>
          <a:xfrm>
            <a:off x="594360" y="5650992"/>
            <a:ext cx="11002975" cy="749808"/>
          </a:xfrm>
          <a:prstGeom prst="roundRect">
            <a:avLst>
              <a:gd name="adj" fmla="val 8537"/>
            </a:avLst>
          </a:prstGeom>
          <a:solidFill>
            <a:srgbClr val="FFFFFF"/>
          </a:solidFill>
          <a:ln w="19050">
            <a:solidFill>
              <a:srgbClr val="B07D2B"/>
            </a:solidFill>
            <a:prstDash val="solid"/>
          </a:ln>
        </p:spPr>
      </p:sp>
      <p:sp>
        <p:nvSpPr>
          <p:cNvPr id="19" name="Text 16"/>
          <p:cNvSpPr txBox="1"/>
          <p:nvPr/>
        </p:nvSpPr>
        <p:spPr>
          <a:xfrm>
            <a:off x="868680" y="5815584"/>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Early voting is the norm here</a:t>
            </a:r>
            <a:endParaRPr lang="en-US" sz="1400" dirty="0"/>
          </a:p>
        </p:txBody>
      </p:sp>
      <p:sp>
        <p:nvSpPr>
          <p:cNvPr id="20" name="Text 17"/>
          <p:cNvSpPr txBox="1"/>
          <p:nvPr/>
        </p:nvSpPr>
        <p:spPr>
          <a:xfrm>
            <a:off x="868680" y="6181344"/>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opens in-person early voting on the seventeenth day before Election Day (the twelfth day before a May election) and closes it on the fourth day before. A majority of Texas ballots are now cast before Election Day, which is not true in every state.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HISTORY OF VOTING RIGHTS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A century of exclusion, then a century of law</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8_voting_rights.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86868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1902</a:t>
            </a:r>
            <a:endParaRPr lang="en-US" sz="1400" dirty="0"/>
          </a:p>
        </p:txBody>
      </p:sp>
      <p:sp>
        <p:nvSpPr>
          <p:cNvPr id="7" name="Text 4"/>
          <p:cNvSpPr txBox="1"/>
          <p:nvPr/>
        </p:nvSpPr>
        <p:spPr>
          <a:xfrm>
            <a:off x="1554480" y="1783080"/>
            <a:ext cx="187452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Poll tax</a:t>
            </a:r>
            <a:endParaRPr lang="en-US" sz="1250" dirty="0"/>
          </a:p>
        </p:txBody>
      </p:sp>
      <p:sp>
        <p:nvSpPr>
          <p:cNvPr id="8" name="Text 5"/>
          <p:cNvSpPr txBox="1"/>
          <p:nvPr/>
        </p:nvSpPr>
        <p:spPr>
          <a:xfrm>
            <a:off x="3520440" y="1783080"/>
            <a:ext cx="4206240" cy="64008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Texas adopts a fee to vote, pricing out poor Black, Mexican American, and white Texans.</a:t>
            </a:r>
            <a:endParaRPr lang="en-US" sz="1150" dirty="0"/>
          </a:p>
        </p:txBody>
      </p:sp>
      <p:sp>
        <p:nvSpPr>
          <p:cNvPr id="9" name="Text 6"/>
          <p:cNvSpPr txBox="1"/>
          <p:nvPr/>
        </p:nvSpPr>
        <p:spPr>
          <a:xfrm>
            <a:off x="594360" y="2468880"/>
            <a:ext cx="86868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1923</a:t>
            </a:r>
            <a:endParaRPr lang="en-US" sz="1400" dirty="0"/>
          </a:p>
        </p:txBody>
      </p:sp>
      <p:sp>
        <p:nvSpPr>
          <p:cNvPr id="10" name="Text 7"/>
          <p:cNvSpPr txBox="1"/>
          <p:nvPr/>
        </p:nvSpPr>
        <p:spPr>
          <a:xfrm>
            <a:off x="1554480" y="2468880"/>
            <a:ext cx="187452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White primary</a:t>
            </a:r>
            <a:endParaRPr lang="en-US" sz="1250" dirty="0"/>
          </a:p>
        </p:txBody>
      </p:sp>
      <p:sp>
        <p:nvSpPr>
          <p:cNvPr id="11" name="Text 8"/>
          <p:cNvSpPr txBox="1"/>
          <p:nvPr/>
        </p:nvSpPr>
        <p:spPr>
          <a:xfrm>
            <a:off x="3520440" y="2468880"/>
            <a:ext cx="4206240" cy="64008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State law bars Black voters from the Democratic primary, the only election that mattered in a one-party state.</a:t>
            </a:r>
            <a:endParaRPr lang="en-US" sz="1150" dirty="0"/>
          </a:p>
        </p:txBody>
      </p:sp>
      <p:sp>
        <p:nvSpPr>
          <p:cNvPr id="12" name="Text 9"/>
          <p:cNvSpPr txBox="1"/>
          <p:nvPr/>
        </p:nvSpPr>
        <p:spPr>
          <a:xfrm>
            <a:off x="594360" y="3154680"/>
            <a:ext cx="86868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1944</a:t>
            </a:r>
            <a:endParaRPr lang="en-US" sz="1400" dirty="0"/>
          </a:p>
        </p:txBody>
      </p:sp>
      <p:sp>
        <p:nvSpPr>
          <p:cNvPr id="13" name="Text 10"/>
          <p:cNvSpPr txBox="1"/>
          <p:nvPr/>
        </p:nvSpPr>
        <p:spPr>
          <a:xfrm>
            <a:off x="1554480" y="3154680"/>
            <a:ext cx="187452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Smith v. Allwright</a:t>
            </a:r>
            <a:endParaRPr lang="en-US" sz="1250" dirty="0"/>
          </a:p>
        </p:txBody>
      </p:sp>
      <p:sp>
        <p:nvSpPr>
          <p:cNvPr id="14" name="Text 11"/>
          <p:cNvSpPr txBox="1"/>
          <p:nvPr/>
        </p:nvSpPr>
        <p:spPr>
          <a:xfrm>
            <a:off x="3520440" y="3154680"/>
            <a:ext cx="4206240" cy="64008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A Houston dentist, represented by Thurgood Marshall, wins at the Supreme Court. White primaries fall across the South.</a:t>
            </a:r>
            <a:endParaRPr lang="en-US" sz="1150" dirty="0"/>
          </a:p>
        </p:txBody>
      </p:sp>
      <p:sp>
        <p:nvSpPr>
          <p:cNvPr id="15" name="Text 12"/>
          <p:cNvSpPr txBox="1"/>
          <p:nvPr/>
        </p:nvSpPr>
        <p:spPr>
          <a:xfrm>
            <a:off x="594360" y="3840480"/>
            <a:ext cx="86868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1964 to 1966</a:t>
            </a:r>
            <a:endParaRPr lang="en-US" sz="1400" dirty="0"/>
          </a:p>
        </p:txBody>
      </p:sp>
      <p:sp>
        <p:nvSpPr>
          <p:cNvPr id="16" name="Text 13"/>
          <p:cNvSpPr txBox="1"/>
          <p:nvPr/>
        </p:nvSpPr>
        <p:spPr>
          <a:xfrm>
            <a:off x="1554480" y="3840480"/>
            <a:ext cx="187452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Poll tax ends</a:t>
            </a:r>
            <a:endParaRPr lang="en-US" sz="1250" dirty="0"/>
          </a:p>
        </p:txBody>
      </p:sp>
      <p:sp>
        <p:nvSpPr>
          <p:cNvPr id="17" name="Text 14"/>
          <p:cNvSpPr txBox="1"/>
          <p:nvPr/>
        </p:nvSpPr>
        <p:spPr>
          <a:xfrm>
            <a:off x="3520440" y="3840480"/>
            <a:ext cx="4206240" cy="64008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The Twenty-Fourth Amendment bars it federally, and Harper v. Virginia Board of Elections ends it in state elections.</a:t>
            </a:r>
            <a:endParaRPr lang="en-US" sz="1150" dirty="0"/>
          </a:p>
        </p:txBody>
      </p:sp>
      <p:sp>
        <p:nvSpPr>
          <p:cNvPr id="18" name="Text 15"/>
          <p:cNvSpPr txBox="1"/>
          <p:nvPr/>
        </p:nvSpPr>
        <p:spPr>
          <a:xfrm>
            <a:off x="594360" y="4526280"/>
            <a:ext cx="86868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1965</a:t>
            </a:r>
            <a:endParaRPr lang="en-US" sz="1400" dirty="0"/>
          </a:p>
        </p:txBody>
      </p:sp>
      <p:sp>
        <p:nvSpPr>
          <p:cNvPr id="19" name="Text 16"/>
          <p:cNvSpPr txBox="1"/>
          <p:nvPr/>
        </p:nvSpPr>
        <p:spPr>
          <a:xfrm>
            <a:off x="1554480" y="4526280"/>
            <a:ext cx="187452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Voting Rights Act</a:t>
            </a:r>
            <a:endParaRPr lang="en-US" sz="1250" dirty="0"/>
          </a:p>
        </p:txBody>
      </p:sp>
      <p:sp>
        <p:nvSpPr>
          <p:cNvPr id="20" name="Text 17"/>
          <p:cNvSpPr txBox="1"/>
          <p:nvPr/>
        </p:nvSpPr>
        <p:spPr>
          <a:xfrm>
            <a:off x="3520440" y="4526280"/>
            <a:ext cx="4206240" cy="64008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Federal law bars racially discriminatory election practices. Texas is brought under federal preclearance in 1975, when the Act is extended to language minorities.</a:t>
            </a:r>
            <a:endParaRPr lang="en-US" sz="1150" dirty="0"/>
          </a:p>
        </p:txBody>
      </p:sp>
      <p:sp>
        <p:nvSpPr>
          <p:cNvPr id="21" name="Text 18"/>
          <p:cNvSpPr txBox="1"/>
          <p:nvPr/>
        </p:nvSpPr>
        <p:spPr>
          <a:xfrm>
            <a:off x="594360" y="5212080"/>
            <a:ext cx="86868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2013</a:t>
            </a:r>
            <a:endParaRPr lang="en-US" sz="1400" dirty="0"/>
          </a:p>
        </p:txBody>
      </p:sp>
      <p:sp>
        <p:nvSpPr>
          <p:cNvPr id="22" name="Text 19"/>
          <p:cNvSpPr txBox="1"/>
          <p:nvPr/>
        </p:nvSpPr>
        <p:spPr>
          <a:xfrm>
            <a:off x="1554480" y="5212080"/>
            <a:ext cx="187452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Shelby County v. Holder</a:t>
            </a:r>
            <a:endParaRPr lang="en-US" sz="1250" dirty="0"/>
          </a:p>
        </p:txBody>
      </p:sp>
      <p:sp>
        <p:nvSpPr>
          <p:cNvPr id="23" name="Text 20"/>
          <p:cNvSpPr txBox="1"/>
          <p:nvPr/>
        </p:nvSpPr>
        <p:spPr>
          <a:xfrm>
            <a:off x="3520440" y="5212080"/>
            <a:ext cx="4206240" cy="64008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The Supreme Court strikes the coverage formula. Preclearance no longer applies, and Texas may change election law without prior federal approval.</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Access and integrity</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spent a century dismantling barriers to the ballot. When a new election rule is proposed today, what evidence should decide whether it protects integrity or restricts access?</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white primary technically left Black Texans the vote while removing all its value. What does that history teach about judging election rules by their stated purpose versus their effect?</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asks voters to the polls many times in a two year cycle. Does voting more often strengthen democracy or dilute participation?</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VOTER DECISION MAKING</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voters actually decide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pic>
        <p:nvPicPr>
          <p:cNvPr id="5" name="Image 0" descr="images/tx8_ballot_choices.jpg">    </p:cNvPr>
          <p:cNvPicPr>
            <a:picLocks noChangeAspect="1"/>
          </p:cNvPicPr>
          <p:nvPr/>
        </p:nvPicPr>
        <p:blipFill>
          <a:blip r:embed="rId1"/>
          <a:stretch>
            <a:fillRect/>
          </a:stretch>
        </p:blipFill>
        <p:spPr>
          <a:xfrm>
            <a:off x="7772400" y="1783080"/>
            <a:ext cx="3840480" cy="2057400"/>
          </a:xfrm>
          <a:prstGeom prst="rect">
            <a:avLst/>
          </a:prstGeom>
        </p:spPr>
      </p:pic>
      <p:sp>
        <p:nvSpPr>
          <p:cNvPr id="6" name="Text 3"/>
          <p:cNvSpPr txBox="1"/>
          <p:nvPr/>
        </p:nvSpPr>
        <p:spPr>
          <a:xfrm>
            <a:off x="594360" y="1783080"/>
            <a:ext cx="6949440" cy="77724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A Texas ballot can run to dozens of races, many for offices voters have never heard of. Nobody researches all of them. Voters use heuristics, mental shortcuts that stand in for exhaustive analysis.</a:t>
            </a:r>
            <a:endParaRPr lang="en-US" sz="1350" dirty="0"/>
          </a:p>
        </p:txBody>
      </p:sp>
      <p:sp>
        <p:nvSpPr>
          <p:cNvPr id="7" name="Shape 4"/>
          <p:cNvSpPr/>
          <p:nvPr/>
        </p:nvSpPr>
        <p:spPr>
          <a:xfrm>
            <a:off x="594360" y="2697480"/>
            <a:ext cx="6949440" cy="640080"/>
          </a:xfrm>
          <a:prstGeom prst="roundRect">
            <a:avLst>
              <a:gd name="adj" fmla="val 7143"/>
            </a:avLst>
          </a:prstGeom>
          <a:solidFill>
            <a:srgbClr val="FFFFFF"/>
          </a:solidFill>
          <a:ln w="12700">
            <a:solidFill>
              <a:srgbClr val="E0D7C6"/>
            </a:solidFill>
            <a:prstDash val="solid"/>
          </a:ln>
        </p:spPr>
      </p:sp>
      <p:sp>
        <p:nvSpPr>
          <p:cNvPr id="8" name="Shape 5"/>
          <p:cNvSpPr/>
          <p:nvPr/>
        </p:nvSpPr>
        <p:spPr>
          <a:xfrm>
            <a:off x="594360" y="2697480"/>
            <a:ext cx="118872" cy="640080"/>
          </a:xfrm>
          <a:prstGeom prst="roundRect">
            <a:avLst>
              <a:gd name="adj" fmla="val 38462"/>
            </a:avLst>
          </a:prstGeom>
          <a:solidFill>
            <a:srgbClr val="00788A"/>
          </a:solidFill>
          <a:ln/>
        </p:spPr>
      </p:sp>
      <p:sp>
        <p:nvSpPr>
          <p:cNvPr id="9" name="Text 6"/>
          <p:cNvSpPr txBox="1"/>
          <p:nvPr/>
        </p:nvSpPr>
        <p:spPr>
          <a:xfrm>
            <a:off x="886968" y="2761488"/>
            <a:ext cx="22860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Party identification</a:t>
            </a:r>
            <a:endParaRPr lang="en-US" sz="1250" dirty="0"/>
          </a:p>
        </p:txBody>
      </p:sp>
      <p:sp>
        <p:nvSpPr>
          <p:cNvPr id="10" name="Text 7"/>
          <p:cNvSpPr txBox="1"/>
          <p:nvPr/>
        </p:nvSpPr>
        <p:spPr>
          <a:xfrm>
            <a:off x="886968" y="3035808"/>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single strongest predictor of a vote. A reasonable proxy for how a candidate is likely to govern.</a:t>
            </a:r>
            <a:endParaRPr lang="en-US" sz="1150" dirty="0"/>
          </a:p>
        </p:txBody>
      </p:sp>
      <p:sp>
        <p:nvSpPr>
          <p:cNvPr id="11" name="Shape 8"/>
          <p:cNvSpPr/>
          <p:nvPr/>
        </p:nvSpPr>
        <p:spPr>
          <a:xfrm>
            <a:off x="594360" y="3355848"/>
            <a:ext cx="6949440" cy="640080"/>
          </a:xfrm>
          <a:prstGeom prst="roundRect">
            <a:avLst>
              <a:gd name="adj" fmla="val 7143"/>
            </a:avLst>
          </a:prstGeom>
          <a:solidFill>
            <a:srgbClr val="FFFFFF"/>
          </a:solidFill>
          <a:ln w="12700">
            <a:solidFill>
              <a:srgbClr val="E0D7C6"/>
            </a:solidFill>
            <a:prstDash val="solid"/>
          </a:ln>
        </p:spPr>
      </p:sp>
      <p:sp>
        <p:nvSpPr>
          <p:cNvPr id="12" name="Shape 9"/>
          <p:cNvSpPr/>
          <p:nvPr/>
        </p:nvSpPr>
        <p:spPr>
          <a:xfrm>
            <a:off x="594360" y="3355848"/>
            <a:ext cx="118872" cy="640080"/>
          </a:xfrm>
          <a:prstGeom prst="roundRect">
            <a:avLst>
              <a:gd name="adj" fmla="val 38462"/>
            </a:avLst>
          </a:prstGeom>
          <a:solidFill>
            <a:srgbClr val="B07D2B"/>
          </a:solidFill>
          <a:ln/>
        </p:spPr>
      </p:sp>
      <p:sp>
        <p:nvSpPr>
          <p:cNvPr id="13" name="Text 10"/>
          <p:cNvSpPr txBox="1"/>
          <p:nvPr/>
        </p:nvSpPr>
        <p:spPr>
          <a:xfrm>
            <a:off x="886968" y="3419856"/>
            <a:ext cx="22860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Retrospective voting</a:t>
            </a:r>
            <a:endParaRPr lang="en-US" sz="1250" dirty="0"/>
          </a:p>
        </p:txBody>
      </p:sp>
      <p:sp>
        <p:nvSpPr>
          <p:cNvPr id="14" name="Text 11"/>
          <p:cNvSpPr txBox="1"/>
          <p:nvPr/>
        </p:nvSpPr>
        <p:spPr>
          <a:xfrm>
            <a:off x="886968" y="3694176"/>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Judging by past performance, often the state of the economy.</a:t>
            </a:r>
            <a:endParaRPr lang="en-US" sz="1150" dirty="0"/>
          </a:p>
        </p:txBody>
      </p:sp>
      <p:sp>
        <p:nvSpPr>
          <p:cNvPr id="15" name="Shape 12"/>
          <p:cNvSpPr/>
          <p:nvPr/>
        </p:nvSpPr>
        <p:spPr>
          <a:xfrm>
            <a:off x="594360" y="4014216"/>
            <a:ext cx="6949440" cy="640080"/>
          </a:xfrm>
          <a:prstGeom prst="roundRect">
            <a:avLst>
              <a:gd name="adj" fmla="val 7143"/>
            </a:avLst>
          </a:prstGeom>
          <a:solidFill>
            <a:srgbClr val="FFFFFF"/>
          </a:solidFill>
          <a:ln w="12700">
            <a:solidFill>
              <a:srgbClr val="E0D7C6"/>
            </a:solidFill>
            <a:prstDash val="solid"/>
          </a:ln>
        </p:spPr>
      </p:sp>
      <p:sp>
        <p:nvSpPr>
          <p:cNvPr id="16" name="Shape 13"/>
          <p:cNvSpPr/>
          <p:nvPr/>
        </p:nvSpPr>
        <p:spPr>
          <a:xfrm>
            <a:off x="594360" y="4014216"/>
            <a:ext cx="118872" cy="640080"/>
          </a:xfrm>
          <a:prstGeom prst="roundRect">
            <a:avLst>
              <a:gd name="adj" fmla="val 38462"/>
            </a:avLst>
          </a:prstGeom>
          <a:solidFill>
            <a:srgbClr val="B07D2B"/>
          </a:solidFill>
          <a:ln/>
        </p:spPr>
      </p:sp>
      <p:sp>
        <p:nvSpPr>
          <p:cNvPr id="17" name="Text 14"/>
          <p:cNvSpPr txBox="1"/>
          <p:nvPr/>
        </p:nvSpPr>
        <p:spPr>
          <a:xfrm>
            <a:off x="886968" y="4078224"/>
            <a:ext cx="22860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Prospective voting</a:t>
            </a:r>
            <a:endParaRPr lang="en-US" sz="1250" dirty="0"/>
          </a:p>
        </p:txBody>
      </p:sp>
      <p:sp>
        <p:nvSpPr>
          <p:cNvPr id="18" name="Text 15"/>
          <p:cNvSpPr txBox="1"/>
          <p:nvPr/>
        </p:nvSpPr>
        <p:spPr>
          <a:xfrm>
            <a:off x="886968" y="4352544"/>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Choosing based on what a candidate promises to do.</a:t>
            </a:r>
            <a:endParaRPr lang="en-US" sz="1150" dirty="0"/>
          </a:p>
        </p:txBody>
      </p:sp>
      <p:sp>
        <p:nvSpPr>
          <p:cNvPr id="19" name="Shape 16"/>
          <p:cNvSpPr/>
          <p:nvPr/>
        </p:nvSpPr>
        <p:spPr>
          <a:xfrm>
            <a:off x="594360" y="4672584"/>
            <a:ext cx="6949440" cy="640080"/>
          </a:xfrm>
          <a:prstGeom prst="roundRect">
            <a:avLst>
              <a:gd name="adj" fmla="val 7143"/>
            </a:avLst>
          </a:prstGeom>
          <a:solidFill>
            <a:srgbClr val="FFFFFF"/>
          </a:solidFill>
          <a:ln w="12700">
            <a:solidFill>
              <a:srgbClr val="E0D7C6"/>
            </a:solidFill>
            <a:prstDash val="solid"/>
          </a:ln>
        </p:spPr>
      </p:sp>
      <p:sp>
        <p:nvSpPr>
          <p:cNvPr id="20" name="Shape 17"/>
          <p:cNvSpPr/>
          <p:nvPr/>
        </p:nvSpPr>
        <p:spPr>
          <a:xfrm>
            <a:off x="594360" y="4672584"/>
            <a:ext cx="118872" cy="640080"/>
          </a:xfrm>
          <a:prstGeom prst="roundRect">
            <a:avLst>
              <a:gd name="adj" fmla="val 38462"/>
            </a:avLst>
          </a:prstGeom>
          <a:solidFill>
            <a:srgbClr val="B07D2B"/>
          </a:solidFill>
          <a:ln/>
        </p:spPr>
      </p:sp>
      <p:sp>
        <p:nvSpPr>
          <p:cNvPr id="21" name="Text 18"/>
          <p:cNvSpPr txBox="1"/>
          <p:nvPr/>
        </p:nvSpPr>
        <p:spPr>
          <a:xfrm>
            <a:off x="886968" y="4736592"/>
            <a:ext cx="22860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Pocketbook voting</a:t>
            </a:r>
            <a:endParaRPr lang="en-US" sz="1250" dirty="0"/>
          </a:p>
        </p:txBody>
      </p:sp>
      <p:sp>
        <p:nvSpPr>
          <p:cNvPr id="22" name="Text 19"/>
          <p:cNvSpPr txBox="1"/>
          <p:nvPr/>
        </p:nvSpPr>
        <p:spPr>
          <a:xfrm>
            <a:off x="886968" y="5010912"/>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Voting according to one's own financial situation.</a:t>
            </a:r>
            <a:endParaRPr lang="en-US" sz="1150" dirty="0"/>
          </a:p>
        </p:txBody>
      </p:sp>
      <p:sp>
        <p:nvSpPr>
          <p:cNvPr id="23" name="Shape 20"/>
          <p:cNvSpPr/>
          <p:nvPr/>
        </p:nvSpPr>
        <p:spPr>
          <a:xfrm>
            <a:off x="594360" y="5330952"/>
            <a:ext cx="6949440" cy="640080"/>
          </a:xfrm>
          <a:prstGeom prst="roundRect">
            <a:avLst>
              <a:gd name="adj" fmla="val 7143"/>
            </a:avLst>
          </a:prstGeom>
          <a:solidFill>
            <a:srgbClr val="FFFFFF"/>
          </a:solidFill>
          <a:ln w="12700">
            <a:solidFill>
              <a:srgbClr val="E0D7C6"/>
            </a:solidFill>
            <a:prstDash val="solid"/>
          </a:ln>
        </p:spPr>
      </p:sp>
      <p:sp>
        <p:nvSpPr>
          <p:cNvPr id="24" name="Shape 21"/>
          <p:cNvSpPr/>
          <p:nvPr/>
        </p:nvSpPr>
        <p:spPr>
          <a:xfrm>
            <a:off x="594360" y="5330952"/>
            <a:ext cx="118872" cy="640080"/>
          </a:xfrm>
          <a:prstGeom prst="roundRect">
            <a:avLst>
              <a:gd name="adj" fmla="val 38462"/>
            </a:avLst>
          </a:prstGeom>
          <a:solidFill>
            <a:srgbClr val="98002E"/>
          </a:solidFill>
          <a:ln/>
        </p:spPr>
      </p:sp>
      <p:sp>
        <p:nvSpPr>
          <p:cNvPr id="25" name="Text 22"/>
          <p:cNvSpPr txBox="1"/>
          <p:nvPr/>
        </p:nvSpPr>
        <p:spPr>
          <a:xfrm>
            <a:off x="886968" y="5394960"/>
            <a:ext cx="22860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Incumbency</a:t>
            </a:r>
            <a:endParaRPr lang="en-US" sz="1250" dirty="0"/>
          </a:p>
        </p:txBody>
      </p:sp>
      <p:sp>
        <p:nvSpPr>
          <p:cNvPr id="26" name="Text 23"/>
          <p:cNvSpPr txBox="1"/>
          <p:nvPr/>
        </p:nvSpPr>
        <p:spPr>
          <a:xfrm>
            <a:off x="886968" y="5669280"/>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Name recognition alone moves votes, especially in low-information races.</a:t>
            </a:r>
            <a:endParaRPr lang="en-US" sz="1150" dirty="0"/>
          </a:p>
        </p:txBody>
      </p:sp>
      <p:sp>
        <p:nvSpPr>
          <p:cNvPr id="27" name="Text 24"/>
          <p:cNvSpPr txBox="1"/>
          <p:nvPr/>
        </p:nvSpPr>
        <p:spPr>
          <a:xfrm>
            <a:off x="594360" y="5961888"/>
            <a:ext cx="11002975" cy="457200"/>
          </a:xfrm>
          <a:prstGeom prst="rect">
            <a:avLst/>
          </a:prstGeom>
          <a:noFill/>
          <a:ln/>
        </p:spPr>
        <p:txBody>
          <a:bodyPr wrap="square" lIns="0" tIns="0" rIns="0" bIns="0" rtlCol="0" anchor="t"/>
          <a:lstStyle/>
          <a:p>
            <a:pPr indent="0" marL="0">
              <a:buNone/>
            </a:pPr>
            <a:r>
              <a:rPr lang="en-US" sz="1250" i="1" dirty="0">
                <a:solidFill>
                  <a:srgbClr val="002B5C"/>
                </a:solidFill>
                <a:latin typeface="Calibri" pitchFamily="34" charset="0"/>
                <a:ea typeface="Calibri" pitchFamily="34" charset="-122"/>
                <a:cs typeface="Calibri" pitchFamily="34" charset="-120"/>
              </a:rPr>
              <a:t>Heuristics are a rational response to limited time, not a failure of citizenship. The question is which shortcuts track how someone will actually govern.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TURNOUT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Near the bottom, consistently</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8_empty_polling.jpg">    </p:cNvPr>
          <p:cNvPicPr>
            <a:picLocks noChangeAspect="1"/>
          </p:cNvPicPr>
          <p:nvPr/>
        </p:nvPicPr>
        <p:blipFill>
          <a:blip r:embed="rId1"/>
          <a:stretch>
            <a:fillRect/>
          </a:stretch>
        </p:blipFill>
        <p:spPr>
          <a:xfrm>
            <a:off x="7772400" y="1783080"/>
            <a:ext cx="3840480" cy="2103120"/>
          </a:xfrm>
          <a:prstGeom prst="rect">
            <a:avLst/>
          </a:prstGeom>
        </p:spPr>
      </p:pic>
      <p:sp>
        <p:nvSpPr>
          <p:cNvPr id="6" name="Text 3"/>
          <p:cNvSpPr txBox="1"/>
          <p:nvPr/>
        </p:nvSpPr>
        <p:spPr>
          <a:xfrm>
            <a:off x="594360" y="1783080"/>
            <a:ext cx="6949440" cy="82296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turnout ranks among the lowest in the nation: fifth-lowest in 2024 at 56.6 percent of eligible voters, and 44th of 51 in the 2018 midterm. The pattern holds in presidential years, midterms, and especially in local and amendment elections.</a:t>
            </a:r>
            <a:endParaRPr lang="en-US" sz="1250" dirty="0"/>
          </a:p>
        </p:txBody>
      </p:sp>
      <p:sp>
        <p:nvSpPr>
          <p:cNvPr id="7" name="Text 4"/>
          <p:cNvSpPr txBox="1"/>
          <p:nvPr/>
        </p:nvSpPr>
        <p:spPr>
          <a:xfrm>
            <a:off x="594360" y="2651760"/>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A young population</a:t>
            </a:r>
            <a:endParaRPr lang="en-US" sz="1250" dirty="0"/>
          </a:p>
        </p:txBody>
      </p:sp>
      <p:sp>
        <p:nvSpPr>
          <p:cNvPr id="8" name="Text 5"/>
          <p:cNvSpPr txBox="1"/>
          <p:nvPr/>
        </p:nvSpPr>
        <p:spPr>
          <a:xfrm>
            <a:off x="3017520" y="2651760"/>
            <a:ext cx="470916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is younger than the national average, and young people vote least in every state.</a:t>
            </a:r>
            <a:endParaRPr lang="en-US" sz="1200" dirty="0"/>
          </a:p>
        </p:txBody>
      </p:sp>
      <p:sp>
        <p:nvSpPr>
          <p:cNvPr id="9" name="Text 6"/>
          <p:cNvSpPr txBox="1"/>
          <p:nvPr/>
        </p:nvSpPr>
        <p:spPr>
          <a:xfrm>
            <a:off x="594360" y="3364992"/>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A large noncitizen population</a:t>
            </a:r>
            <a:endParaRPr lang="en-US" sz="1250" dirty="0"/>
          </a:p>
        </p:txBody>
      </p:sp>
      <p:sp>
        <p:nvSpPr>
          <p:cNvPr id="10" name="Text 7"/>
          <p:cNvSpPr txBox="1"/>
          <p:nvPr/>
        </p:nvSpPr>
        <p:spPr>
          <a:xfrm>
            <a:off x="3017520" y="3364992"/>
            <a:ext cx="470916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Raw population comparisons overstate the gap. Turnout among the voting-eligible population is the better measure.</a:t>
            </a:r>
            <a:endParaRPr lang="en-US" sz="1200" dirty="0"/>
          </a:p>
        </p:txBody>
      </p:sp>
      <p:sp>
        <p:nvSpPr>
          <p:cNvPr id="11" name="Text 8"/>
          <p:cNvSpPr txBox="1"/>
          <p:nvPr/>
        </p:nvSpPr>
        <p:spPr>
          <a:xfrm>
            <a:off x="594360" y="4078224"/>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Low political efficacy</a:t>
            </a:r>
            <a:endParaRPr lang="en-US" sz="1250" dirty="0"/>
          </a:p>
        </p:txBody>
      </p:sp>
      <p:sp>
        <p:nvSpPr>
          <p:cNvPr id="12" name="Text 9"/>
          <p:cNvSpPr txBox="1"/>
          <p:nvPr/>
        </p:nvSpPr>
        <p:spPr>
          <a:xfrm>
            <a:off x="3017520" y="4078224"/>
            <a:ext cx="470916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Many Texans doubt their vote changes outcomes, and in statewide races that have not been close, that belief is not irrational.</a:t>
            </a:r>
            <a:endParaRPr lang="en-US" sz="1200" dirty="0"/>
          </a:p>
        </p:txBody>
      </p:sp>
      <p:sp>
        <p:nvSpPr>
          <p:cNvPr id="13" name="Text 10"/>
          <p:cNvSpPr txBox="1"/>
          <p:nvPr/>
        </p:nvSpPr>
        <p:spPr>
          <a:xfrm>
            <a:off x="594360" y="4791456"/>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One-party dominance</a:t>
            </a:r>
            <a:endParaRPr lang="en-US" sz="1250" dirty="0"/>
          </a:p>
        </p:txBody>
      </p:sp>
      <p:sp>
        <p:nvSpPr>
          <p:cNvPr id="14" name="Text 11"/>
          <p:cNvSpPr txBox="1"/>
          <p:nvPr/>
        </p:nvSpPr>
        <p:spPr>
          <a:xfrm>
            <a:off x="3017520" y="4791456"/>
            <a:ext cx="470916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When statewide outcomes feel settled, both parties' voters have less reason to turn out.</a:t>
            </a:r>
            <a:endParaRPr lang="en-US" sz="1200" dirty="0"/>
          </a:p>
        </p:txBody>
      </p:sp>
      <p:sp>
        <p:nvSpPr>
          <p:cNvPr id="15" name="Text 12"/>
          <p:cNvSpPr txBox="1"/>
          <p:nvPr/>
        </p:nvSpPr>
        <p:spPr>
          <a:xfrm>
            <a:off x="594360" y="5504688"/>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Procedural friction</a:t>
            </a:r>
            <a:endParaRPr lang="en-US" sz="1250" dirty="0"/>
          </a:p>
        </p:txBody>
      </p:sp>
      <p:sp>
        <p:nvSpPr>
          <p:cNvPr id="16" name="Text 13"/>
          <p:cNvSpPr txBox="1"/>
          <p:nvPr/>
        </p:nvSpPr>
        <p:spPr>
          <a:xfrm>
            <a:off x="3017520" y="5504688"/>
            <a:ext cx="470916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No same-day or automatic registration, a thirty day deadline, and an ID requirement each add small costs.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ELECTION LAW DEBATE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ways to read the same rules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94360" y="1737360"/>
            <a:ext cx="11002975" cy="64008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Senate Bill 1, passed in 2021, ended drive-through and 24 hour voting, added identification requirements for mail ballots, expanded the role of partisan poll watchers, and regulated assistance to voters.</a:t>
            </a:r>
            <a:endParaRPr lang="en-US" sz="1350" dirty="0"/>
          </a:p>
        </p:txBody>
      </p:sp>
      <p:sp>
        <p:nvSpPr>
          <p:cNvPr id="6" name="Shape 4"/>
          <p:cNvSpPr/>
          <p:nvPr/>
        </p:nvSpPr>
        <p:spPr>
          <a:xfrm>
            <a:off x="594360" y="2514600"/>
            <a:ext cx="5318608" cy="2468880"/>
          </a:xfrm>
          <a:prstGeom prst="roundRect">
            <a:avLst>
              <a:gd name="adj" fmla="val 2593"/>
            </a:avLst>
          </a:prstGeom>
          <a:solidFill>
            <a:srgbClr val="FFFFFF"/>
          </a:solidFill>
          <a:ln w="12700">
            <a:solidFill>
              <a:srgbClr val="E0D7C6"/>
            </a:solidFill>
            <a:prstDash val="solid"/>
          </a:ln>
        </p:spPr>
      </p:sp>
      <p:sp>
        <p:nvSpPr>
          <p:cNvPr id="7" name="Text 5"/>
          <p:cNvSpPr txBox="1"/>
          <p:nvPr/>
        </p:nvSpPr>
        <p:spPr>
          <a:xfrm>
            <a:off x="832104" y="267919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The case for the law</a:t>
            </a:r>
            <a:endParaRPr lang="en-US" sz="1400" dirty="0"/>
          </a:p>
        </p:txBody>
      </p:sp>
      <p:sp>
        <p:nvSpPr>
          <p:cNvPr id="8" name="Text 6"/>
          <p:cNvSpPr txBox="1"/>
          <p:nvPr/>
        </p:nvSpPr>
        <p:spPr>
          <a:xfrm>
            <a:off x="832104" y="3081528"/>
            <a:ext cx="4843120" cy="171907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Uniform statewide rules prevent counties from improvising procedures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Identification requirements for mail ballots close a channel with weaker verification</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Poll watcher access makes the process observable by both parties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Public confidence in elections is itself a legitimate goal</a:t>
            </a:r>
            <a:endParaRPr lang="en-US" sz="1250" dirty="0"/>
          </a:p>
        </p:txBody>
      </p:sp>
      <p:sp>
        <p:nvSpPr>
          <p:cNvPr id="9" name="Shape 7"/>
          <p:cNvSpPr/>
          <p:nvPr/>
        </p:nvSpPr>
        <p:spPr>
          <a:xfrm>
            <a:off x="6278728" y="2514600"/>
            <a:ext cx="5318608" cy="2468880"/>
          </a:xfrm>
          <a:prstGeom prst="roundRect">
            <a:avLst>
              <a:gd name="adj" fmla="val 2593"/>
            </a:avLst>
          </a:prstGeom>
          <a:solidFill>
            <a:srgbClr val="FFFFFF"/>
          </a:solidFill>
          <a:ln w="12700">
            <a:solidFill>
              <a:srgbClr val="E0D7C6"/>
            </a:solidFill>
            <a:prstDash val="solid"/>
          </a:ln>
        </p:spPr>
      </p:sp>
      <p:sp>
        <p:nvSpPr>
          <p:cNvPr id="10" name="Text 8"/>
          <p:cNvSpPr txBox="1"/>
          <p:nvPr/>
        </p:nvSpPr>
        <p:spPr>
          <a:xfrm>
            <a:off x="6516472" y="267919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The case against</a:t>
            </a:r>
            <a:endParaRPr lang="en-US" sz="1400" dirty="0"/>
          </a:p>
        </p:txBody>
      </p:sp>
      <p:sp>
        <p:nvSpPr>
          <p:cNvPr id="11" name="Text 9"/>
          <p:cNvSpPr txBox="1"/>
          <p:nvPr/>
        </p:nvSpPr>
        <p:spPr>
          <a:xfrm>
            <a:off x="6516472" y="3081528"/>
            <a:ext cx="4843120" cy="171907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Mail ballot rejections rose sharply after the new identification rules took effect</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Provisions fell hardest on elderly, disabled, and low income voters and on large urban counties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Documented in-person fraud in Texas has been rare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Expanded poll watcher access raises concerns about voter intimidation</a:t>
            </a:r>
            <a:endParaRPr lang="en-US" sz="1250" dirty="0"/>
          </a:p>
        </p:txBody>
      </p:sp>
      <p:sp>
        <p:nvSpPr>
          <p:cNvPr id="12" name="Shape 10"/>
          <p:cNvSpPr/>
          <p:nvPr/>
        </p:nvSpPr>
        <p:spPr>
          <a:xfrm>
            <a:off x="594360" y="5166360"/>
            <a:ext cx="11002975" cy="1188720"/>
          </a:xfrm>
          <a:prstGeom prst="roundRect">
            <a:avLst>
              <a:gd name="adj" fmla="val 5385"/>
            </a:avLst>
          </a:prstGeom>
          <a:solidFill>
            <a:srgbClr val="FFFFFF"/>
          </a:solidFill>
          <a:ln w="19050">
            <a:solidFill>
              <a:srgbClr val="B07D2B"/>
            </a:solidFill>
            <a:prstDash val="solid"/>
          </a:ln>
        </p:spPr>
      </p:sp>
      <p:sp>
        <p:nvSpPr>
          <p:cNvPr id="13" name="Text 11"/>
          <p:cNvSpPr txBox="1"/>
          <p:nvPr/>
        </p:nvSpPr>
        <p:spPr>
          <a:xfrm>
            <a:off x="868680" y="533095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Where it stands</a:t>
            </a:r>
            <a:endParaRPr lang="en-US" sz="1400" dirty="0"/>
          </a:p>
        </p:txBody>
      </p:sp>
      <p:sp>
        <p:nvSpPr>
          <p:cNvPr id="14" name="Text 12"/>
          <p:cNvSpPr txBox="1"/>
          <p:nvPr/>
        </p:nvSpPr>
        <p:spPr>
          <a:xfrm>
            <a:off x="868680" y="5696712"/>
            <a:ext cx="10454335" cy="47548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Trial courts blocked several SB 1 provisions between 2023 and 2025, but the Fifth Circuit reversed each of those rulings (Aug. 2025, Feb. 2026, Aug. 2026), and the Supreme Court declined to hear the case in June 2026. As of fall 2026 SB 1 is fully in effect. Earlier Texas voter identification laws were found by federal courts to burden minority voters, and the Legislature revised the law in 2017 to add alternatives for voters who cannot reasonably obtain photo ID.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INCREASING PARTICIPATION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would actually raise turnout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94360" y="1737360"/>
            <a:ext cx="11002975" cy="777240"/>
          </a:xfrm>
          <a:prstGeom prst="roundRect">
            <a:avLst>
              <a:gd name="adj" fmla="val 7059"/>
            </a:avLst>
          </a:prstGeom>
          <a:solidFill>
            <a:srgbClr val="FFFFFF"/>
          </a:solidFill>
          <a:ln w="12700">
            <a:solidFill>
              <a:srgbClr val="E0D7C6"/>
            </a:solidFill>
            <a:prstDash val="solid"/>
          </a:ln>
        </p:spPr>
      </p:sp>
      <p:sp>
        <p:nvSpPr>
          <p:cNvPr id="6" name="Shape 4"/>
          <p:cNvSpPr/>
          <p:nvPr/>
        </p:nvSpPr>
        <p:spPr>
          <a:xfrm>
            <a:off x="795528" y="1897380"/>
            <a:ext cx="457200" cy="457200"/>
          </a:xfrm>
          <a:prstGeom prst="ellipse">
            <a:avLst/>
          </a:prstGeom>
          <a:solidFill>
            <a:srgbClr val="00788A"/>
          </a:solidFill>
          <a:ln/>
        </p:spPr>
      </p:sp>
      <p:sp>
        <p:nvSpPr>
          <p:cNvPr id="7" name="Text 5"/>
          <p:cNvSpPr txBox="1"/>
          <p:nvPr/>
        </p:nvSpPr>
        <p:spPr>
          <a:xfrm>
            <a:off x="795528" y="189738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1399032" y="2011680"/>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Automatic registration</a:t>
            </a:r>
            <a:endParaRPr lang="en-US" sz="1400" dirty="0"/>
          </a:p>
        </p:txBody>
      </p:sp>
      <p:sp>
        <p:nvSpPr>
          <p:cNvPr id="9" name="Text 7"/>
          <p:cNvSpPr txBox="1"/>
          <p:nvPr/>
        </p:nvSpPr>
        <p:spPr>
          <a:xfrm>
            <a:off x="4187952" y="1883664"/>
            <a:ext cx="7208215" cy="50292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Register eligible citizens through driver license data unless they opt out. Used in many states. Texas does not.</a:t>
            </a:r>
            <a:endParaRPr lang="en-US" sz="1250" dirty="0"/>
          </a:p>
        </p:txBody>
      </p:sp>
      <p:sp>
        <p:nvSpPr>
          <p:cNvPr id="10" name="Shape 8"/>
          <p:cNvSpPr/>
          <p:nvPr/>
        </p:nvSpPr>
        <p:spPr>
          <a:xfrm>
            <a:off x="594360" y="2569464"/>
            <a:ext cx="11002975" cy="777240"/>
          </a:xfrm>
          <a:prstGeom prst="roundRect">
            <a:avLst>
              <a:gd name="adj" fmla="val 7059"/>
            </a:avLst>
          </a:prstGeom>
          <a:solidFill>
            <a:srgbClr val="FFFFFF"/>
          </a:solidFill>
          <a:ln w="12700">
            <a:solidFill>
              <a:srgbClr val="E0D7C6"/>
            </a:solidFill>
            <a:prstDash val="solid"/>
          </a:ln>
        </p:spPr>
      </p:sp>
      <p:sp>
        <p:nvSpPr>
          <p:cNvPr id="11" name="Shape 9"/>
          <p:cNvSpPr/>
          <p:nvPr/>
        </p:nvSpPr>
        <p:spPr>
          <a:xfrm>
            <a:off x="795528" y="2729484"/>
            <a:ext cx="457200" cy="457200"/>
          </a:xfrm>
          <a:prstGeom prst="ellipse">
            <a:avLst/>
          </a:prstGeom>
          <a:solidFill>
            <a:srgbClr val="00788A"/>
          </a:solidFill>
          <a:ln/>
        </p:spPr>
      </p:sp>
      <p:sp>
        <p:nvSpPr>
          <p:cNvPr id="12" name="Text 10"/>
          <p:cNvSpPr txBox="1"/>
          <p:nvPr/>
        </p:nvSpPr>
        <p:spPr>
          <a:xfrm>
            <a:off x="795528" y="2729484"/>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1399032" y="2843784"/>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Same-day registration</a:t>
            </a:r>
            <a:endParaRPr lang="en-US" sz="1400" dirty="0"/>
          </a:p>
        </p:txBody>
      </p:sp>
      <p:sp>
        <p:nvSpPr>
          <p:cNvPr id="14" name="Text 12"/>
          <p:cNvSpPr txBox="1"/>
          <p:nvPr/>
        </p:nvSpPr>
        <p:spPr>
          <a:xfrm>
            <a:off x="4187952" y="2715768"/>
            <a:ext cx="7208215" cy="50292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Register and vote on the same day. Associated with higher turnout. Texas does not allow it.</a:t>
            </a:r>
            <a:endParaRPr lang="en-US" sz="1250" dirty="0"/>
          </a:p>
        </p:txBody>
      </p:sp>
      <p:sp>
        <p:nvSpPr>
          <p:cNvPr id="15" name="Shape 13"/>
          <p:cNvSpPr/>
          <p:nvPr/>
        </p:nvSpPr>
        <p:spPr>
          <a:xfrm>
            <a:off x="594360" y="3401568"/>
            <a:ext cx="11002975" cy="777240"/>
          </a:xfrm>
          <a:prstGeom prst="roundRect">
            <a:avLst>
              <a:gd name="adj" fmla="val 7059"/>
            </a:avLst>
          </a:prstGeom>
          <a:solidFill>
            <a:srgbClr val="FFFFFF"/>
          </a:solidFill>
          <a:ln w="12700">
            <a:solidFill>
              <a:srgbClr val="E0D7C6"/>
            </a:solidFill>
            <a:prstDash val="solid"/>
          </a:ln>
        </p:spPr>
      </p:sp>
      <p:sp>
        <p:nvSpPr>
          <p:cNvPr id="16" name="Shape 14"/>
          <p:cNvSpPr/>
          <p:nvPr/>
        </p:nvSpPr>
        <p:spPr>
          <a:xfrm>
            <a:off x="795528" y="3561588"/>
            <a:ext cx="457200" cy="457200"/>
          </a:xfrm>
          <a:prstGeom prst="ellipse">
            <a:avLst/>
          </a:prstGeom>
          <a:solidFill>
            <a:srgbClr val="B07D2B"/>
          </a:solidFill>
          <a:ln/>
        </p:spPr>
      </p:sp>
      <p:sp>
        <p:nvSpPr>
          <p:cNvPr id="17" name="Text 15"/>
          <p:cNvSpPr txBox="1"/>
          <p:nvPr/>
        </p:nvSpPr>
        <p:spPr>
          <a:xfrm>
            <a:off x="795528" y="3561588"/>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1399032" y="3675888"/>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Online registration</a:t>
            </a:r>
            <a:endParaRPr lang="en-US" sz="1400" dirty="0"/>
          </a:p>
        </p:txBody>
      </p:sp>
      <p:sp>
        <p:nvSpPr>
          <p:cNvPr id="19" name="Text 17"/>
          <p:cNvSpPr txBox="1"/>
          <p:nvPr/>
        </p:nvSpPr>
        <p:spPr>
          <a:xfrm>
            <a:off x="4187952" y="3547872"/>
            <a:ext cx="7208215" cy="50292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Full online registration, available in most states. Texas offers only limited online updates.</a:t>
            </a:r>
            <a:endParaRPr lang="en-US" sz="1250" dirty="0"/>
          </a:p>
        </p:txBody>
      </p:sp>
      <p:sp>
        <p:nvSpPr>
          <p:cNvPr id="20" name="Shape 18"/>
          <p:cNvSpPr/>
          <p:nvPr/>
        </p:nvSpPr>
        <p:spPr>
          <a:xfrm>
            <a:off x="594360" y="4233672"/>
            <a:ext cx="11002975" cy="777240"/>
          </a:xfrm>
          <a:prstGeom prst="roundRect">
            <a:avLst>
              <a:gd name="adj" fmla="val 7059"/>
            </a:avLst>
          </a:prstGeom>
          <a:solidFill>
            <a:srgbClr val="FFFFFF"/>
          </a:solidFill>
          <a:ln w="12700">
            <a:solidFill>
              <a:srgbClr val="E0D7C6"/>
            </a:solidFill>
            <a:prstDash val="solid"/>
          </a:ln>
        </p:spPr>
      </p:sp>
      <p:sp>
        <p:nvSpPr>
          <p:cNvPr id="21" name="Shape 19"/>
          <p:cNvSpPr/>
          <p:nvPr/>
        </p:nvSpPr>
        <p:spPr>
          <a:xfrm>
            <a:off x="795528" y="4393692"/>
            <a:ext cx="457200" cy="457200"/>
          </a:xfrm>
          <a:prstGeom prst="ellipse">
            <a:avLst/>
          </a:prstGeom>
          <a:solidFill>
            <a:srgbClr val="B07D2B"/>
          </a:solidFill>
          <a:ln/>
        </p:spPr>
      </p:sp>
      <p:sp>
        <p:nvSpPr>
          <p:cNvPr id="22" name="Text 20"/>
          <p:cNvSpPr txBox="1"/>
          <p:nvPr/>
        </p:nvSpPr>
        <p:spPr>
          <a:xfrm>
            <a:off x="795528" y="4393692"/>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23" name="Text 21"/>
          <p:cNvSpPr txBox="1"/>
          <p:nvPr/>
        </p:nvSpPr>
        <p:spPr>
          <a:xfrm>
            <a:off x="1399032" y="4507992"/>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Consolidated election dates</a:t>
            </a:r>
            <a:endParaRPr lang="en-US" sz="1400" dirty="0"/>
          </a:p>
        </p:txBody>
      </p:sp>
      <p:sp>
        <p:nvSpPr>
          <p:cNvPr id="24" name="Text 22"/>
          <p:cNvSpPr txBox="1"/>
          <p:nvPr/>
        </p:nvSpPr>
        <p:spPr>
          <a:xfrm>
            <a:off x="4187952" y="4379976"/>
            <a:ext cx="7208215" cy="50292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Moving local elections to November would raise their turnout, at the cost of longer ballots and less local focus.</a:t>
            </a:r>
            <a:endParaRPr lang="en-US" sz="1250" dirty="0"/>
          </a:p>
        </p:txBody>
      </p:sp>
      <p:sp>
        <p:nvSpPr>
          <p:cNvPr id="25" name="Shape 23"/>
          <p:cNvSpPr/>
          <p:nvPr/>
        </p:nvSpPr>
        <p:spPr>
          <a:xfrm>
            <a:off x="594360" y="5065776"/>
            <a:ext cx="11002975" cy="777240"/>
          </a:xfrm>
          <a:prstGeom prst="roundRect">
            <a:avLst>
              <a:gd name="adj" fmla="val 7059"/>
            </a:avLst>
          </a:prstGeom>
          <a:solidFill>
            <a:srgbClr val="FFFFFF"/>
          </a:solidFill>
          <a:ln w="12700">
            <a:solidFill>
              <a:srgbClr val="E0D7C6"/>
            </a:solidFill>
            <a:prstDash val="solid"/>
          </a:ln>
        </p:spPr>
      </p:sp>
      <p:sp>
        <p:nvSpPr>
          <p:cNvPr id="26" name="Shape 24"/>
          <p:cNvSpPr/>
          <p:nvPr/>
        </p:nvSpPr>
        <p:spPr>
          <a:xfrm>
            <a:off x="795528" y="5225796"/>
            <a:ext cx="457200" cy="457200"/>
          </a:xfrm>
          <a:prstGeom prst="ellipse">
            <a:avLst/>
          </a:prstGeom>
          <a:solidFill>
            <a:srgbClr val="98002E"/>
          </a:solidFill>
          <a:ln/>
        </p:spPr>
      </p:sp>
      <p:sp>
        <p:nvSpPr>
          <p:cNvPr id="27" name="Text 25"/>
          <p:cNvSpPr txBox="1"/>
          <p:nvPr/>
        </p:nvSpPr>
        <p:spPr>
          <a:xfrm>
            <a:off x="795528" y="5225796"/>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28" name="Text 26"/>
          <p:cNvSpPr txBox="1"/>
          <p:nvPr/>
        </p:nvSpPr>
        <p:spPr>
          <a:xfrm>
            <a:off x="1399032" y="5340096"/>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Compulsory voting</a:t>
            </a:r>
            <a:endParaRPr lang="en-US" sz="1400" dirty="0"/>
          </a:p>
        </p:txBody>
      </p:sp>
      <p:sp>
        <p:nvSpPr>
          <p:cNvPr id="29" name="Text 27"/>
          <p:cNvSpPr txBox="1"/>
          <p:nvPr/>
        </p:nvSpPr>
        <p:spPr>
          <a:xfrm>
            <a:off x="4187952" y="5212080"/>
            <a:ext cx="7208215" cy="50292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Required by law in Australia, with a small fine. Turnout exceeds ninety percent. No United States jurisdiction does this.</a:t>
            </a:r>
            <a:endParaRPr lang="en-US" sz="1250" dirty="0"/>
          </a:p>
        </p:txBody>
      </p:sp>
      <p:sp>
        <p:nvSpPr>
          <p:cNvPr id="30" name="Text 28"/>
          <p:cNvSpPr txBox="1"/>
          <p:nvPr/>
        </p:nvSpPr>
        <p:spPr>
          <a:xfrm>
            <a:off x="594360" y="5897880"/>
            <a:ext cx="11002975" cy="457200"/>
          </a:xfrm>
          <a:prstGeom prst="rect">
            <a:avLst/>
          </a:prstGeom>
          <a:noFill/>
          <a:ln/>
        </p:spPr>
        <p:txBody>
          <a:bodyPr wrap="square" lIns="0" tIns="0" rIns="0" bIns="0" rtlCol="0" anchor="t"/>
          <a:lstStyle/>
          <a:p>
            <a:pPr indent="0" marL="0">
              <a:lnSpc>
                <a:spcPts val="1600"/>
              </a:lnSpc>
              <a:buNone/>
            </a:pPr>
            <a:r>
              <a:rPr lang="en-US" sz="1200" i="1" dirty="0">
                <a:solidFill>
                  <a:srgbClr val="002B5C"/>
                </a:solidFill>
                <a:latin typeface="Calibri" pitchFamily="34" charset="0"/>
                <a:ea typeface="Calibri" pitchFamily="34" charset="-122"/>
                <a:cs typeface="Calibri" pitchFamily="34" charset="-120"/>
              </a:rPr>
              <a:t>Every option has a cost. Easier registration raises administrative burden and, critics argue, risk. Consolidated dates bury local races on a long ballot. Compulsory voting trades liberty for participation.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PARTICIPATION BEYOND THE BALLOT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Voting is not the only lever</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pic>
        <p:nvPicPr>
          <p:cNvPr id="5" name="Image 0" descr="images/tx8_political_rally.jpg">    </p:cNvPr>
          <p:cNvPicPr>
            <a:picLocks noChangeAspect="1"/>
          </p:cNvPicPr>
          <p:nvPr/>
        </p:nvPicPr>
        <p:blipFill>
          <a:blip r:embed="rId1"/>
          <a:stretch>
            <a:fillRect/>
          </a:stretch>
        </p:blipFill>
        <p:spPr>
          <a:xfrm>
            <a:off x="7772400" y="1783080"/>
            <a:ext cx="3840480" cy="2103120"/>
          </a:xfrm>
          <a:prstGeom prst="rect">
            <a:avLst/>
          </a:prstGeom>
        </p:spPr>
      </p:pic>
      <p:sp>
        <p:nvSpPr>
          <p:cNvPr id="6" name="Text 3"/>
          <p:cNvSpPr txBox="1"/>
          <p:nvPr/>
        </p:nvSpPr>
        <p:spPr>
          <a:xfrm>
            <a:off x="594360" y="1783080"/>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Contacting officials</a:t>
            </a:r>
            <a:endParaRPr lang="en-US" sz="1250" dirty="0"/>
          </a:p>
        </p:txBody>
      </p:sp>
      <p:sp>
        <p:nvSpPr>
          <p:cNvPr id="7" name="Text 4"/>
          <p:cNvSpPr txBox="1"/>
          <p:nvPr/>
        </p:nvSpPr>
        <p:spPr>
          <a:xfrm>
            <a:off x="2880360" y="1783080"/>
            <a:ext cx="484632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phone call or email to a legislative office is counted and reported. Volume matters, especially on low-profile bills.</a:t>
            </a:r>
            <a:endParaRPr lang="en-US" sz="1200" dirty="0"/>
          </a:p>
        </p:txBody>
      </p:sp>
      <p:sp>
        <p:nvSpPr>
          <p:cNvPr id="8" name="Text 5"/>
          <p:cNvSpPr txBox="1"/>
          <p:nvPr/>
        </p:nvSpPr>
        <p:spPr>
          <a:xfrm>
            <a:off x="594360" y="2441448"/>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Public testimony</a:t>
            </a:r>
            <a:endParaRPr lang="en-US" sz="1250" dirty="0"/>
          </a:p>
        </p:txBody>
      </p:sp>
      <p:sp>
        <p:nvSpPr>
          <p:cNvPr id="9" name="Text 6"/>
          <p:cNvSpPr txBox="1"/>
          <p:nvPr/>
        </p:nvSpPr>
        <p:spPr>
          <a:xfrm>
            <a:off x="2880360" y="2441448"/>
            <a:ext cx="484632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Legislative committees and local boards take public comment. Anyone may sign up and speak.</a:t>
            </a:r>
            <a:endParaRPr lang="en-US" sz="1200" dirty="0"/>
          </a:p>
        </p:txBody>
      </p:sp>
      <p:sp>
        <p:nvSpPr>
          <p:cNvPr id="10" name="Text 7"/>
          <p:cNvSpPr txBox="1"/>
          <p:nvPr/>
        </p:nvSpPr>
        <p:spPr>
          <a:xfrm>
            <a:off x="594360" y="3099816"/>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Organizing and donating</a:t>
            </a:r>
            <a:endParaRPr lang="en-US" sz="1250" dirty="0"/>
          </a:p>
        </p:txBody>
      </p:sp>
      <p:sp>
        <p:nvSpPr>
          <p:cNvPr id="11" name="Text 8"/>
          <p:cNvSpPr txBox="1"/>
          <p:nvPr/>
        </p:nvSpPr>
        <p:spPr>
          <a:xfrm>
            <a:off x="2880360" y="3099816"/>
            <a:ext cx="484632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Joining or funding a group multiplies individual effort. Chapter 11.</a:t>
            </a:r>
            <a:endParaRPr lang="en-US" sz="1200" dirty="0"/>
          </a:p>
        </p:txBody>
      </p:sp>
      <p:sp>
        <p:nvSpPr>
          <p:cNvPr id="12" name="Text 9"/>
          <p:cNvSpPr txBox="1"/>
          <p:nvPr/>
        </p:nvSpPr>
        <p:spPr>
          <a:xfrm>
            <a:off x="594360" y="3758184"/>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Protest and assembly</a:t>
            </a:r>
            <a:endParaRPr lang="en-US" sz="1250" dirty="0"/>
          </a:p>
        </p:txBody>
      </p:sp>
      <p:sp>
        <p:nvSpPr>
          <p:cNvPr id="13" name="Text 10"/>
          <p:cNvSpPr txBox="1"/>
          <p:nvPr/>
        </p:nvSpPr>
        <p:spPr>
          <a:xfrm>
            <a:off x="2880360" y="3758184"/>
            <a:ext cx="484632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Protected by the First Amendment and the Texas Bill of Rights. Chapter 16.</a:t>
            </a:r>
            <a:endParaRPr lang="en-US" sz="1200" dirty="0"/>
          </a:p>
        </p:txBody>
      </p:sp>
      <p:sp>
        <p:nvSpPr>
          <p:cNvPr id="14" name="Text 11"/>
          <p:cNvSpPr txBox="1"/>
          <p:nvPr/>
        </p:nvSpPr>
        <p:spPr>
          <a:xfrm>
            <a:off x="594360" y="4416552"/>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Litigation</a:t>
            </a:r>
            <a:endParaRPr lang="en-US" sz="1250" dirty="0"/>
          </a:p>
        </p:txBody>
      </p:sp>
      <p:sp>
        <p:nvSpPr>
          <p:cNvPr id="15" name="Text 12"/>
          <p:cNvSpPr txBox="1"/>
          <p:nvPr/>
        </p:nvSpPr>
        <p:spPr>
          <a:xfrm>
            <a:off x="2880360" y="4416552"/>
            <a:ext cx="484632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Roe v. Wade and Dobbs both began as lawsuits. Courts are a participation channel when legislatures will not move.</a:t>
            </a:r>
            <a:endParaRPr lang="en-US" sz="1200" dirty="0"/>
          </a:p>
        </p:txBody>
      </p:sp>
      <p:sp>
        <p:nvSpPr>
          <p:cNvPr id="16" name="Text 13"/>
          <p:cNvSpPr txBox="1"/>
          <p:nvPr/>
        </p:nvSpPr>
        <p:spPr>
          <a:xfrm>
            <a:off x="594360" y="5074920"/>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Running for office</a:t>
            </a:r>
            <a:endParaRPr lang="en-US" sz="1250" dirty="0"/>
          </a:p>
        </p:txBody>
      </p:sp>
      <p:sp>
        <p:nvSpPr>
          <p:cNvPr id="17" name="Text 14"/>
          <p:cNvSpPr txBox="1"/>
          <p:nvPr/>
        </p:nvSpPr>
        <p:spPr>
          <a:xfrm>
            <a:off x="2880360" y="5074920"/>
            <a:ext cx="484632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Thousands of local seats appear on Texas ballots, and many draw no opponent at all.</a:t>
            </a:r>
            <a:endParaRPr lang="en-US" sz="1200" dirty="0"/>
          </a:p>
        </p:txBody>
      </p:sp>
      <p:sp>
        <p:nvSpPr>
          <p:cNvPr id="18" name="Shape 15"/>
          <p:cNvSpPr/>
          <p:nvPr/>
        </p:nvSpPr>
        <p:spPr>
          <a:xfrm>
            <a:off x="594360" y="5669280"/>
            <a:ext cx="11002975" cy="749808"/>
          </a:xfrm>
          <a:prstGeom prst="roundRect">
            <a:avLst>
              <a:gd name="adj" fmla="val 8537"/>
            </a:avLst>
          </a:prstGeom>
          <a:solidFill>
            <a:srgbClr val="FFFFFF"/>
          </a:solidFill>
          <a:ln w="19050">
            <a:solidFill>
              <a:srgbClr val="B07D2B"/>
            </a:solidFill>
            <a:prstDash val="solid"/>
          </a:ln>
        </p:spPr>
      </p:sp>
      <p:sp>
        <p:nvSpPr>
          <p:cNvPr id="19" name="Text 16"/>
          <p:cNvSpPr txBox="1"/>
          <p:nvPr/>
        </p:nvSpPr>
        <p:spPr>
          <a:xfrm>
            <a:off x="868680" y="58338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unopposed race problem</a:t>
            </a:r>
            <a:endParaRPr lang="en-US" sz="1400" dirty="0"/>
          </a:p>
        </p:txBody>
      </p:sp>
      <p:sp>
        <p:nvSpPr>
          <p:cNvPr id="20" name="Text 17"/>
          <p:cNvSpPr txBox="1"/>
          <p:nvPr/>
        </p:nvSpPr>
        <p:spPr>
          <a:xfrm>
            <a:off x="868680" y="619963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Many Texas local offices draw a single candidate. Where nobody files, there is effectively no election, and a seat with real taxing authority is filled by default.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Why people do and do not participate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 voter in a statewide race decided by fifteen points concludes their vote will not change the outcome. Are they wrong, and what is the strongest argument for voting anyway?</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Local and amendment elections decide the most about daily life and draw the fewest voters. Is that a failure of citizens, a failure of election design, or both?</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Many Texas local races are uncontested. What does it mean for democracy when the problem is not who wins but that nobody ran?</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8 in the Trailblazer Trek: 8 sections, 1,685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ballot access against election integrity.</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6 (the state and local election process) is primary. Outcomes 5 and 7 are supporting.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REGISTER AND VOTE</a:t>
            </a:r>
            <a:endParaRPr lang="en-US" sz="1100" dirty="0"/>
          </a:p>
        </p:txBody>
      </p:sp>
      <p:sp>
        <p:nvSpPr>
          <p:cNvPr id="6" name="Text 4"/>
          <p:cNvSpPr txBox="1"/>
          <p:nvPr/>
        </p:nvSpPr>
        <p:spPr>
          <a:xfrm>
            <a:off x="3063240" y="1755648"/>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Secretary of State elections division carries registration forms, ID rules, deadlines, and official results. sos.texas.gov/elections</a:t>
            </a:r>
            <a:endParaRPr lang="en-US" sz="1250" dirty="0"/>
          </a:p>
        </p:txBody>
      </p:sp>
      <p:sp>
        <p:nvSpPr>
          <p:cNvPr id="7" name="Text 5"/>
          <p:cNvSpPr txBox="1"/>
          <p:nvPr/>
        </p:nvSpPr>
        <p:spPr>
          <a:xfrm>
            <a:off x="594360" y="2496312"/>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YOUR COUNTY</a:t>
            </a:r>
            <a:endParaRPr lang="en-US" sz="1100" dirty="0"/>
          </a:p>
        </p:txBody>
      </p:sp>
      <p:sp>
        <p:nvSpPr>
          <p:cNvPr id="8" name="Text 6"/>
          <p:cNvSpPr txBox="1"/>
          <p:nvPr/>
        </p:nvSpPr>
        <p:spPr>
          <a:xfrm>
            <a:off x="3063240" y="2468880"/>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Your county clerk or elections administrator posts polling locations, early voting sites, and sample ballots.</a:t>
            </a:r>
            <a:endParaRPr lang="en-US" sz="1250" dirty="0"/>
          </a:p>
        </p:txBody>
      </p:sp>
      <p:sp>
        <p:nvSpPr>
          <p:cNvPr id="9" name="Text 7"/>
          <p:cNvSpPr txBox="1"/>
          <p:nvPr/>
        </p:nvSpPr>
        <p:spPr>
          <a:xfrm>
            <a:off x="594360" y="3209544"/>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TURNOUT DATA</a:t>
            </a:r>
            <a:endParaRPr lang="en-US" sz="1100" dirty="0"/>
          </a:p>
        </p:txBody>
      </p:sp>
      <p:sp>
        <p:nvSpPr>
          <p:cNvPr id="10" name="Text 8"/>
          <p:cNvSpPr txBox="1"/>
          <p:nvPr/>
        </p:nvSpPr>
        <p:spPr>
          <a:xfrm>
            <a:off x="3063240" y="3182112"/>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United States Elections Project publishes turnout by state using the voting-eligible population, the honest comparison. electproject.org</a:t>
            </a:r>
            <a:endParaRPr lang="en-US" sz="1250" dirty="0"/>
          </a:p>
        </p:txBody>
      </p:sp>
      <p:sp>
        <p:nvSpPr>
          <p:cNvPr id="11" name="Text 9"/>
          <p:cNvSpPr txBox="1"/>
          <p:nvPr/>
        </p:nvSpPr>
        <p:spPr>
          <a:xfrm>
            <a:off x="594360" y="3922776"/>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CONSTITUTION</a:t>
            </a:r>
            <a:endParaRPr lang="en-US" sz="1100" dirty="0"/>
          </a:p>
        </p:txBody>
      </p:sp>
      <p:sp>
        <p:nvSpPr>
          <p:cNvPr id="12" name="Text 10"/>
          <p:cNvSpPr txBox="1"/>
          <p:nvPr/>
        </p:nvSpPr>
        <p:spPr>
          <a:xfrm>
            <a:off x="3063240" y="3895344"/>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Constitution, Article VI on suffrage. statutes.capitol.texas.gov</a:t>
            </a:r>
            <a:endParaRPr lang="en-US" sz="1250" dirty="0"/>
          </a:p>
        </p:txBody>
      </p:sp>
      <p:sp>
        <p:nvSpPr>
          <p:cNvPr id="13" name="Text 11"/>
          <p:cNvSpPr txBox="1"/>
          <p:nvPr/>
        </p:nvSpPr>
        <p:spPr>
          <a:xfrm>
            <a:off x="594360" y="4636008"/>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VOTING RIGHTS HISTORY</a:t>
            </a:r>
            <a:endParaRPr lang="en-US" sz="1100" dirty="0"/>
          </a:p>
        </p:txBody>
      </p:sp>
      <p:sp>
        <p:nvSpPr>
          <p:cNvPr id="14" name="Text 12"/>
          <p:cNvSpPr txBox="1"/>
          <p:nvPr/>
        </p:nvSpPr>
        <p:spPr>
          <a:xfrm>
            <a:off x="3063240" y="4608576"/>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Handbook of Texas Online on the poll tax, the white primary, and Smith v. Allwright. tshaonline.org/handbook</a:t>
            </a:r>
            <a:endParaRPr lang="en-US" sz="1250" dirty="0"/>
          </a:p>
        </p:txBody>
      </p:sp>
      <p:sp>
        <p:nvSpPr>
          <p:cNvPr id="15" name="Text 13"/>
          <p:cNvSpPr txBox="1"/>
          <p:nvPr/>
        </p:nvSpPr>
        <p:spPr>
          <a:xfrm>
            <a:off x="594360" y="5349240"/>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063240" y="5321808"/>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“Which election on your ballot</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decides the most about your life?”</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For most Texans the honest answer is one of the ones they skip. That inversion is the central problem of participation in this state.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Voting and Political Participation</dc:title>
  <dc:subject>PptxGenJS Presentation</dc:subject>
  <dc:creator>Tarrant County College</dc:creator>
  <cp:lastModifiedBy>Tarrant County College</cp:lastModifiedBy>
  <cp:revision>1</cp:revision>
  <dcterms:created xsi:type="dcterms:W3CDTF">2026-10-30T14:57:57Z</dcterms:created>
  <dcterms:modified xsi:type="dcterms:W3CDTF">2026-10-30T14:57:57Z</dcterms:modified>
</cp:coreProperties>
</file>